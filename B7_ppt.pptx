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257" r:id="rId3"/>
    <p:sldId id="279" r:id="rId5"/>
    <p:sldId id="258" r:id="rId6"/>
    <p:sldId id="280" r:id="rId7"/>
    <p:sldId id="285" r:id="rId8"/>
    <p:sldId id="259" r:id="rId9"/>
    <p:sldId id="260" r:id="rId10"/>
    <p:sldId id="286" r:id="rId11"/>
    <p:sldId id="281" r:id="rId12"/>
    <p:sldId id="282" r:id="rId13"/>
    <p:sldId id="273" r:id="rId14"/>
    <p:sldId id="287" r:id="rId15"/>
    <p:sldId id="288" r:id="rId16"/>
    <p:sldId id="283" r:id="rId17"/>
    <p:sldId id="284" r:id="rId18"/>
    <p:sldId id="274" r:id="rId19"/>
    <p:sldId id="276" r:id="rId20"/>
    <p:sldId id="277" r:id="rId21"/>
    <p:sldId id="278" r:id="rId22"/>
    <p:sldId id="272"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54" autoAdjust="0"/>
    <p:restoredTop sz="94660"/>
  </p:normalViewPr>
  <p:slideViewPr>
    <p:cSldViewPr snapToGrid="0">
      <p:cViewPr>
        <p:scale>
          <a:sx n="66" d="100"/>
          <a:sy n="66" d="100"/>
        </p:scale>
        <p:origin x="1330" y="31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6" Type="http://schemas.openxmlformats.org/officeDocument/2006/relationships/tableStyles" Target="tableStyles.xml"/><Relationship Id="rId25" Type="http://schemas.openxmlformats.org/officeDocument/2006/relationships/viewProps" Target="viewProps.xml"/><Relationship Id="rId24" Type="http://schemas.openxmlformats.org/officeDocument/2006/relationships/presProps" Target="presProps.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7A42C5E-1C1F-4834-A72C-F6DE7C9BBD6F}" type="datetimeFigureOut">
              <a:rPr lang="en-IN" smtClean="0"/>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9C40F07-EDF0-4BD0-BB16-CDB60BB79F71}" type="slidenum">
              <a:rPr lang="en-IN" smtClean="0"/>
            </a:fld>
            <a:endParaRPr lang="en-IN"/>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notesSlide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84"/>
        <p:cNvGrpSpPr/>
        <p:nvPr/>
      </p:nvGrpSpPr>
      <p:grpSpPr>
        <a:xfrm>
          <a:off x="0" y="0"/>
          <a:ext cx="0" cy="0"/>
          <a:chOff x="0" y="0"/>
          <a:chExt cx="0" cy="0"/>
        </a:xfrm>
      </p:grpSpPr>
      <p:sp>
        <p:nvSpPr>
          <p:cNvPr id="85" name="Google Shape;85;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 name="Google Shape;86;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91"/>
        <p:cNvGrpSpPr/>
        <p:nvPr/>
      </p:nvGrpSpPr>
      <p:grpSpPr>
        <a:xfrm>
          <a:off x="0" y="0"/>
          <a:ext cx="0" cy="0"/>
          <a:chOff x="0" y="0"/>
          <a:chExt cx="0" cy="0"/>
        </a:xfrm>
      </p:grpSpPr>
      <p:sp>
        <p:nvSpPr>
          <p:cNvPr id="92" name="Google Shape;92;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p>
        </p:txBody>
      </p:sp>
      <p:sp>
        <p:nvSpPr>
          <p:cNvPr id="93" name="Google Shape;93;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97"/>
        <p:cNvGrpSpPr/>
        <p:nvPr/>
      </p:nvGrpSpPr>
      <p:grpSpPr>
        <a:xfrm>
          <a:off x="0" y="0"/>
          <a:ext cx="0" cy="0"/>
          <a:chOff x="0" y="0"/>
          <a:chExt cx="0" cy="0"/>
        </a:xfrm>
      </p:grpSpPr>
      <p:sp>
        <p:nvSpPr>
          <p:cNvPr id="98" name="Google Shape;98;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p>
        </p:txBody>
      </p:sp>
      <p:sp>
        <p:nvSpPr>
          <p:cNvPr id="99" name="Google Shape;99;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03"/>
        <p:cNvGrpSpPr/>
        <p:nvPr/>
      </p:nvGrpSpPr>
      <p:grpSpPr>
        <a:xfrm>
          <a:off x="0" y="0"/>
          <a:ext cx="0" cy="0"/>
          <a:chOff x="0" y="0"/>
          <a:chExt cx="0" cy="0"/>
        </a:xfrm>
      </p:grpSpPr>
      <p:sp>
        <p:nvSpPr>
          <p:cNvPr id="104" name="Google Shape;104;p4: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p>
        </p:txBody>
      </p:sp>
      <p:sp>
        <p:nvSpPr>
          <p:cNvPr id="105" name="Google Shape;105;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761F680B-5BFF-49B5-9FAA-01B97664629B}"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572B238-990B-4294-8F66-5819C085B046}" type="slidenum">
              <a:rPr lang="en-IN" smtClean="0"/>
            </a:fld>
            <a:endParaRPr lang="en-I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Date Placeholder 3"/>
          <p:cNvSpPr>
            <a:spLocks noGrp="1"/>
          </p:cNvSpPr>
          <p:nvPr>
            <p:ph type="dt" sz="half" idx="10"/>
          </p:nvPr>
        </p:nvSpPr>
        <p:spPr/>
        <p:txBody>
          <a:bodyPr/>
          <a:lstStyle/>
          <a:p>
            <a:fld id="{761F680B-5BFF-49B5-9FAA-01B97664629B}"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572B238-990B-4294-8F66-5819C085B046}" type="slidenum">
              <a:rPr lang="en-IN" smtClean="0"/>
            </a:fld>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761F680B-5BFF-49B5-9FAA-01B97664629B}"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572B238-990B-4294-8F66-5819C085B046}" type="slidenum">
              <a:rPr lang="en-IN" smtClean="0"/>
            </a:fld>
            <a:endParaRPr lang="en-I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5" name="Date Placeholder 4"/>
          <p:cNvSpPr>
            <a:spLocks noGrp="1"/>
          </p:cNvSpPr>
          <p:nvPr>
            <p:ph type="dt" sz="half" idx="10"/>
          </p:nvPr>
        </p:nvSpPr>
        <p:spPr/>
        <p:txBody>
          <a:bodyPr/>
          <a:lstStyle/>
          <a:p>
            <a:fld id="{761F680B-5BFF-49B5-9FAA-01B97664629B}" type="datetimeFigureOut">
              <a:rPr lang="en-IN" smtClean="0"/>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572B238-990B-4294-8F66-5819C085B046}" type="slidenum">
              <a:rPr lang="en-IN" smtClean="0"/>
            </a:fld>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7" name="Date Placeholder 6"/>
          <p:cNvSpPr>
            <a:spLocks noGrp="1"/>
          </p:cNvSpPr>
          <p:nvPr>
            <p:ph type="dt" sz="half" idx="10"/>
          </p:nvPr>
        </p:nvSpPr>
        <p:spPr/>
        <p:txBody>
          <a:bodyPr/>
          <a:lstStyle/>
          <a:p>
            <a:fld id="{761F680B-5BFF-49B5-9FAA-01B97664629B}" type="datetimeFigureOut">
              <a:rPr lang="en-IN" smtClean="0"/>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C572B238-990B-4294-8F66-5819C085B046}" type="slidenum">
              <a:rPr lang="en-IN" smtClean="0"/>
            </a:fld>
            <a:endParaRPr lang="en-I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761F680B-5BFF-49B5-9FAA-01B97664629B}" type="datetimeFigureOut">
              <a:rPr lang="en-IN" smtClean="0"/>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C572B238-990B-4294-8F66-5819C085B046}" type="slidenum">
              <a:rPr lang="en-IN" smtClean="0"/>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61F680B-5BFF-49B5-9FAA-01B97664629B}" type="datetimeFigureOut">
              <a:rPr lang="en-IN" smtClean="0"/>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C572B238-990B-4294-8F66-5819C085B046}" type="slidenum">
              <a:rPr lang="en-IN" smtClean="0"/>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761F680B-5BFF-49B5-9FAA-01B97664629B}" type="datetimeFigureOut">
              <a:rPr lang="en-IN" smtClean="0"/>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572B238-990B-4294-8F66-5819C085B046}" type="slidenum">
              <a:rPr lang="en-IN" smtClean="0"/>
            </a:fld>
            <a:endParaRPr lang="en-I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761F680B-5BFF-49B5-9FAA-01B97664629B}" type="datetimeFigureOut">
              <a:rPr lang="en-IN" smtClean="0"/>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572B238-990B-4294-8F66-5819C085B046}" type="slidenum">
              <a:rPr lang="en-IN" smtClean="0"/>
            </a:fld>
            <a:endParaRPr lang="en-I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Date Placeholder 3"/>
          <p:cNvSpPr>
            <a:spLocks noGrp="1"/>
          </p:cNvSpPr>
          <p:nvPr>
            <p:ph type="dt" sz="half" idx="10"/>
          </p:nvPr>
        </p:nvSpPr>
        <p:spPr/>
        <p:txBody>
          <a:bodyPr/>
          <a:lstStyle/>
          <a:p>
            <a:fld id="{761F680B-5BFF-49B5-9FAA-01B97664629B}"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572B238-990B-4294-8F66-5819C085B046}" type="slidenum">
              <a:rPr lang="en-IN" smtClean="0"/>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Date Placeholder 3"/>
          <p:cNvSpPr>
            <a:spLocks noGrp="1"/>
          </p:cNvSpPr>
          <p:nvPr>
            <p:ph type="dt" sz="half" idx="10"/>
          </p:nvPr>
        </p:nvSpPr>
        <p:spPr/>
        <p:txBody>
          <a:bodyPr/>
          <a:lstStyle/>
          <a:p>
            <a:fld id="{761F680B-5BFF-49B5-9FAA-01B97664629B}"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572B238-990B-4294-8F66-5819C085B046}" type="slidenum">
              <a:rPr lang="en-IN" smtClean="0"/>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761F680B-5BFF-49B5-9FAA-01B97664629B}" type="datetimeFigureOut">
              <a:rPr lang="en-IN" smtClean="0"/>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572B238-990B-4294-8F66-5819C085B046}" type="slidenum">
              <a:rPr lang="en-IN" smtClean="0"/>
            </a:fld>
            <a:endParaRPr lang="en-I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7.xml"/><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jpe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4.png"/><Relationship Id="rId1" Type="http://schemas.openxmlformats.org/officeDocument/2006/relationships/image" Target="../media/image3.png"/></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6.png"/><Relationship Id="rId1" Type="http://schemas.openxmlformats.org/officeDocument/2006/relationships/image" Target="../media/image5.png"/></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8.png"/><Relationship Id="rId1" Type="http://schemas.openxmlformats.org/officeDocument/2006/relationships/image" Target="../media/image7.png"/></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9.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sp>
        <p:nvSpPr>
          <p:cNvPr id="88" name="Google Shape;88;p13"/>
          <p:cNvSpPr txBox="1"/>
          <p:nvPr/>
        </p:nvSpPr>
        <p:spPr>
          <a:xfrm>
            <a:off x="589934" y="0"/>
            <a:ext cx="10835149" cy="1015622"/>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121429"/>
              </a:buClr>
              <a:buSzPts val="3200"/>
              <a:buFont typeface="Times New Roman" panose="02020603050405020304"/>
              <a:buNone/>
            </a:pPr>
            <a:r>
              <a:rPr lang="en-US" sz="3200" b="1" i="0" u="none" strike="noStrike" cap="none" dirty="0">
                <a:solidFill>
                  <a:srgbClr val="121429"/>
                </a:solidFill>
                <a:latin typeface="Times New Roman" panose="02020603050405020304"/>
                <a:ea typeface="Times New Roman" panose="02020603050405020304"/>
                <a:cs typeface="Times New Roman" panose="02020603050405020304"/>
                <a:sym typeface="Times New Roman" panose="02020603050405020304"/>
              </a:rPr>
              <a:t>Seshadri Rao Gudlavalleru Engineering College</a:t>
            </a:r>
            <a:br>
              <a:rPr lang="en-US" sz="4400" b="1" i="0" u="none" strike="noStrike" cap="none" dirty="0">
                <a:solidFill>
                  <a:srgbClr val="121429"/>
                </a:solidFill>
                <a:latin typeface="Arial Rounded"/>
                <a:ea typeface="Arial Rounded"/>
                <a:cs typeface="Arial Rounded"/>
                <a:sym typeface="Arial Rounded"/>
              </a:rPr>
            </a:br>
            <a:r>
              <a:rPr lang="en-US" sz="2800" b="0" i="0" u="none" strike="noStrike" cap="none" dirty="0">
                <a:solidFill>
                  <a:srgbClr val="121429"/>
                </a:solidFill>
                <a:latin typeface="Arial" panose="020B0604020202020204"/>
                <a:ea typeface="Arial" panose="020B0604020202020204"/>
                <a:cs typeface="Arial" panose="020B0604020202020204"/>
                <a:sym typeface="Arial" panose="020B0604020202020204"/>
              </a:rPr>
              <a:t>Department of CSE (Artificial Intelligence &amp; Machine Learning)</a:t>
            </a:r>
            <a:endParaRPr sz="2800" b="1" i="0" u="none" strike="noStrike" cap="none" dirty="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89" name="Google Shape;89;p13"/>
          <p:cNvSpPr txBox="1"/>
          <p:nvPr/>
        </p:nvSpPr>
        <p:spPr>
          <a:xfrm>
            <a:off x="137652" y="2031244"/>
            <a:ext cx="11932428" cy="4662775"/>
          </a:xfrm>
          <a:prstGeom prst="rect">
            <a:avLst/>
          </a:prstGeom>
          <a:noFill/>
          <a:ln>
            <a:noFill/>
          </a:ln>
        </p:spPr>
        <p:txBody>
          <a:bodyPr spcFirstLastPara="1" wrap="square" lIns="91425" tIns="45700" rIns="91425" bIns="45700" anchor="t" anchorCtr="0">
            <a:spAutoFit/>
          </a:bodyPr>
          <a:lstStyle/>
          <a:p>
            <a:pPr lvl="0" algn="ctr">
              <a:buClr>
                <a:schemeClr val="dk1"/>
              </a:buClr>
              <a:buSzPts val="2800"/>
            </a:pPr>
            <a:r>
              <a:rPr lang="en-US" sz="2400" dirty="0">
                <a:solidFill>
                  <a:srgbClr val="FF0000"/>
                </a:solidFill>
                <a:latin typeface="Times New Roman" panose="02020603050405020304" pitchFamily="18" charset="0"/>
                <a:cs typeface="Times New Roman" panose="02020603050405020304" pitchFamily="18" charset="0"/>
              </a:rPr>
              <a:t>A Hybrid AI-Powered Framework for Real-Time Fake News Detection with Multi-Modal Verification</a:t>
            </a:r>
            <a:endParaRPr lang="en-US" sz="2400" b="1" dirty="0">
              <a:solidFill>
                <a:srgbClr val="FF0000"/>
              </a:solidFill>
              <a:latin typeface="Times New Roman" panose="02020603050405020304" pitchFamily="18" charset="0"/>
              <a:ea typeface="Times New Roman" panose="02020603050405020304"/>
              <a:cs typeface="Times New Roman" panose="02020603050405020304" pitchFamily="18" charset="0"/>
              <a:sym typeface="Times New Roman" panose="02020603050405020304"/>
            </a:endParaRPr>
          </a:p>
          <a:p>
            <a:pPr lvl="0" algn="ctr">
              <a:buClr>
                <a:schemeClr val="dk1"/>
              </a:buClr>
              <a:buSzPts val="2800"/>
            </a:pPr>
            <a:r>
              <a:rPr lang="en-US" sz="2400" b="1" i="0" u="none" strike="noStrike" cap="none" dirty="0">
                <a:solidFill>
                  <a:schemeClr val="dk1"/>
                </a:solidFill>
                <a:latin typeface="Times New Roman" panose="02020603050405020304" pitchFamily="18" charset="0"/>
                <a:ea typeface="Times New Roman" panose="02020603050405020304"/>
                <a:cs typeface="Times New Roman" panose="02020603050405020304" pitchFamily="18" charset="0"/>
                <a:sym typeface="Times New Roman" panose="02020603050405020304"/>
              </a:rPr>
              <a:t>	              </a:t>
            </a:r>
            <a:r>
              <a:rPr lang="en-US" sz="1800" b="0" i="0" u="none" strike="noStrike" cap="none" dirty="0">
                <a:solidFill>
                  <a:schemeClr val="dk1"/>
                </a:solidFill>
                <a:latin typeface="Times New Roman" panose="02020603050405020304" pitchFamily="18" charset="0"/>
                <a:ea typeface="Times New Roman" panose="02020603050405020304"/>
                <a:cs typeface="Times New Roman" panose="02020603050405020304" pitchFamily="18" charset="0"/>
                <a:sym typeface="Times New Roman" panose="02020603050405020304"/>
              </a:rPr>
              <a:t>By   			                                         </a:t>
            </a:r>
            <a:endParaRPr lang="en-US" sz="1800" b="0" i="0" u="none" strike="noStrike" cap="none" dirty="0">
              <a:solidFill>
                <a:schemeClr val="dk1"/>
              </a:solidFill>
              <a:latin typeface="Times New Roman" panose="02020603050405020304" pitchFamily="18" charset="0"/>
              <a:ea typeface="Times New Roman" panose="02020603050405020304"/>
              <a:cs typeface="Times New Roman" panose="02020603050405020304" pitchFamily="18" charset="0"/>
              <a:sym typeface="Times New Roman" panose="02020603050405020304"/>
            </a:endParaRPr>
          </a:p>
          <a:p>
            <a:pPr lvl="0" algn="ctr">
              <a:buClr>
                <a:schemeClr val="dk1"/>
              </a:buClr>
              <a:buSzPts val="2800"/>
            </a:pPr>
            <a:r>
              <a:rPr lang="en-US" sz="1800" b="1" i="0" u="none" strike="noStrike" cap="none" dirty="0">
                <a:solidFill>
                  <a:srgbClr val="000000"/>
                </a:solidFill>
                <a:latin typeface="Times New Roman" panose="02020603050405020304" pitchFamily="18" charset="0"/>
                <a:ea typeface="Times New Roman" panose="02020603050405020304"/>
                <a:cs typeface="Times New Roman" panose="02020603050405020304" pitchFamily="18" charset="0"/>
                <a:sym typeface="Times New Roman" panose="02020603050405020304"/>
              </a:rPr>
              <a:t>Batch No:07</a:t>
            </a:r>
            <a:endParaRPr lang="en-US" sz="1800" b="1" i="0" u="none" strike="noStrike" cap="none" dirty="0">
              <a:solidFill>
                <a:srgbClr val="000000"/>
              </a:solidFill>
              <a:latin typeface="Times New Roman" panose="02020603050405020304" pitchFamily="18" charset="0"/>
              <a:ea typeface="Times New Roman" panose="02020603050405020304"/>
              <a:cs typeface="Times New Roman" panose="02020603050405020304" pitchFamily="18" charset="0"/>
              <a:sym typeface="Times New Roman" panose="02020603050405020304"/>
            </a:endParaRPr>
          </a:p>
          <a:p>
            <a:pPr marL="0" marR="0" lvl="0" indent="0" algn="ctr" rtl="0">
              <a:lnSpc>
                <a:spcPct val="100000"/>
              </a:lnSpc>
              <a:spcBef>
                <a:spcPts val="0"/>
              </a:spcBef>
              <a:spcAft>
                <a:spcPts val="0"/>
              </a:spcAft>
              <a:buClr>
                <a:schemeClr val="dk1"/>
              </a:buClr>
              <a:buSzPts val="2800"/>
              <a:buFont typeface="Arial" panose="020B0604020202020204"/>
              <a:buNone/>
            </a:pPr>
            <a:r>
              <a:rPr lang="en-US" sz="1800" b="0" i="0" u="none" strike="noStrike" cap="none" dirty="0">
                <a:solidFill>
                  <a:schemeClr val="dk1"/>
                </a:solidFill>
                <a:latin typeface="Times New Roman" panose="02020603050405020304" pitchFamily="18" charset="0"/>
                <a:ea typeface="Times New Roman" panose="02020603050405020304"/>
                <a:cs typeface="Times New Roman" panose="02020603050405020304" pitchFamily="18" charset="0"/>
                <a:sym typeface="Times New Roman" panose="02020603050405020304"/>
              </a:rPr>
              <a:t>                                         </a:t>
            </a:r>
            <a:endParaRPr lang="en-US" dirty="0">
              <a:latin typeface="Times New Roman" panose="02020603050405020304" pitchFamily="18" charset="0"/>
              <a:cs typeface="Times New Roman" panose="02020603050405020304" pitchFamily="18" charset="0"/>
            </a:endParaRPr>
          </a:p>
          <a:p>
            <a:pPr marL="0" marR="0" lvl="0" indent="0" algn="just" rtl="0">
              <a:lnSpc>
                <a:spcPct val="150000"/>
              </a:lnSpc>
              <a:spcBef>
                <a:spcPts val="0"/>
              </a:spcBef>
              <a:spcAft>
                <a:spcPts val="0"/>
              </a:spcAft>
              <a:buClr>
                <a:schemeClr val="dk1"/>
              </a:buClr>
              <a:buSzPts val="1800"/>
              <a:buFont typeface="Arial" panose="020B0604020202020204"/>
              <a:buNone/>
            </a:pPr>
            <a:r>
              <a:rPr lang="en-US" sz="1800" b="1" i="0" u="none" strike="noStrike" cap="none" dirty="0">
                <a:solidFill>
                  <a:schemeClr val="dk1"/>
                </a:solidFill>
                <a:latin typeface="Times New Roman" panose="02020603050405020304" pitchFamily="18" charset="0"/>
                <a:ea typeface="Times New Roman" panose="02020603050405020304"/>
                <a:cs typeface="Times New Roman" panose="02020603050405020304" pitchFamily="18" charset="0"/>
                <a:sym typeface="Times New Roman" panose="02020603050405020304"/>
              </a:rPr>
              <a:t>                                           	 Student Name			           (Roll Number)</a:t>
            </a:r>
            <a:endParaRPr lang="en-US" dirty="0">
              <a:latin typeface="Times New Roman" panose="02020603050405020304" pitchFamily="18" charset="0"/>
              <a:cs typeface="Times New Roman" panose="02020603050405020304" pitchFamily="18" charset="0"/>
            </a:endParaRPr>
          </a:p>
          <a:p>
            <a:pPr lvl="0" algn="just">
              <a:lnSpc>
                <a:spcPct val="150000"/>
              </a:lnSpc>
              <a:buClr>
                <a:schemeClr val="dk1"/>
              </a:buClr>
              <a:buSzPts val="1800"/>
            </a:pPr>
            <a:r>
              <a:rPr lang="en-US" sz="1800" b="1" i="0" u="none" strike="noStrike" cap="none" dirty="0">
                <a:solidFill>
                  <a:schemeClr val="dk1"/>
                </a:solidFill>
                <a:latin typeface="Times New Roman" panose="02020603050405020304" pitchFamily="18" charset="0"/>
                <a:ea typeface="Times New Roman" panose="02020603050405020304"/>
                <a:cs typeface="Times New Roman" panose="02020603050405020304" pitchFamily="18" charset="0"/>
                <a:sym typeface="Times New Roman" panose="02020603050405020304"/>
              </a:rPr>
              <a:t>                                           	</a:t>
            </a:r>
            <a:r>
              <a:rPr lang="en-US" b="1" dirty="0">
                <a:solidFill>
                  <a:schemeClr val="dk1"/>
                </a:solidFill>
                <a:latin typeface="Times New Roman" panose="02020603050405020304" pitchFamily="18" charset="0"/>
                <a:ea typeface="Times New Roman" panose="02020603050405020304"/>
                <a:cs typeface="Times New Roman" panose="02020603050405020304" pitchFamily="18" charset="0"/>
                <a:sym typeface="Times New Roman" panose="02020603050405020304"/>
              </a:rPr>
              <a:t>YARAMALA KARTHIK REDDY                  22481A42C4</a:t>
            </a:r>
            <a:endParaRPr lang="en-US" b="1" dirty="0">
              <a:solidFill>
                <a:schemeClr val="dk1"/>
              </a:solidFill>
              <a:latin typeface="Times New Roman" panose="02020603050405020304" pitchFamily="18" charset="0"/>
              <a:ea typeface="Times New Roman" panose="02020603050405020304"/>
              <a:cs typeface="Times New Roman" panose="02020603050405020304" pitchFamily="18" charset="0"/>
              <a:sym typeface="Times New Roman" panose="02020603050405020304"/>
            </a:endParaRPr>
          </a:p>
          <a:p>
            <a:pPr lvl="0" algn="just">
              <a:lnSpc>
                <a:spcPct val="150000"/>
              </a:lnSpc>
              <a:buClr>
                <a:schemeClr val="dk1"/>
              </a:buClr>
              <a:buSzPts val="1800"/>
            </a:pPr>
            <a:r>
              <a:rPr lang="en-US" b="1" i="0" u="none" strike="noStrike" cap="none" dirty="0">
                <a:solidFill>
                  <a:schemeClr val="dk1"/>
                </a:solidFill>
                <a:latin typeface="Times New Roman" panose="02020603050405020304" pitchFamily="18" charset="0"/>
                <a:ea typeface="Times New Roman" panose="02020603050405020304"/>
                <a:cs typeface="Times New Roman" panose="02020603050405020304" pitchFamily="18" charset="0"/>
                <a:sym typeface="Times New Roman" panose="02020603050405020304"/>
              </a:rPr>
              <a:t>                                                TUNUGUNTLA GOURI NITEESHA</a:t>
            </a:r>
            <a:r>
              <a:rPr lang="en-US" i="0" u="none" strike="noStrike" cap="none" dirty="0">
                <a:solidFill>
                  <a:schemeClr val="dk1"/>
                </a:solidFill>
                <a:latin typeface="Times New Roman" panose="02020603050405020304" pitchFamily="18" charset="0"/>
                <a:ea typeface="Times New Roman" panose="02020603050405020304"/>
                <a:cs typeface="Times New Roman" panose="02020603050405020304" pitchFamily="18" charset="0"/>
                <a:sym typeface="Times New Roman" panose="02020603050405020304"/>
              </a:rPr>
              <a:t>            </a:t>
            </a:r>
            <a:r>
              <a:rPr lang="en-US" b="1" i="0" u="none" strike="noStrike" cap="none" dirty="0">
                <a:solidFill>
                  <a:schemeClr val="dk1"/>
                </a:solidFill>
                <a:latin typeface="Times New Roman" panose="02020603050405020304" pitchFamily="18" charset="0"/>
                <a:ea typeface="Times New Roman" panose="02020603050405020304"/>
                <a:cs typeface="Times New Roman" panose="02020603050405020304" pitchFamily="18" charset="0"/>
                <a:sym typeface="Times New Roman" panose="02020603050405020304"/>
              </a:rPr>
              <a:t>22481A42B4</a:t>
            </a:r>
            <a:endParaRPr lang="en-US" b="1" i="0" u="none" strike="noStrike" cap="none" dirty="0">
              <a:solidFill>
                <a:schemeClr val="dk1"/>
              </a:solidFill>
              <a:latin typeface="Times New Roman" panose="02020603050405020304" pitchFamily="18" charset="0"/>
              <a:ea typeface="Times New Roman" panose="02020603050405020304"/>
              <a:cs typeface="Times New Roman" panose="02020603050405020304" pitchFamily="18" charset="0"/>
              <a:sym typeface="Times New Roman" panose="02020603050405020304"/>
            </a:endParaRPr>
          </a:p>
          <a:p>
            <a:pPr lvl="0" algn="just">
              <a:lnSpc>
                <a:spcPct val="150000"/>
              </a:lnSpc>
              <a:buClr>
                <a:schemeClr val="dk1"/>
              </a:buClr>
              <a:buSzPts val="1800"/>
            </a:pPr>
            <a:r>
              <a:rPr lang="en-US" b="1" dirty="0">
                <a:solidFill>
                  <a:schemeClr val="dk1"/>
                </a:solidFill>
                <a:latin typeface="Times New Roman" panose="02020603050405020304" pitchFamily="18" charset="0"/>
                <a:ea typeface="Times New Roman" panose="02020603050405020304"/>
                <a:cs typeface="Times New Roman" panose="02020603050405020304" pitchFamily="18" charset="0"/>
                <a:sym typeface="Times New Roman" panose="02020603050405020304"/>
              </a:rPr>
              <a:t>                                                VALLAPURAM BHARGAV                           22481A42B6</a:t>
            </a:r>
            <a:endParaRPr lang="en-US" b="1" i="0" u="none" strike="noStrike" cap="none" dirty="0">
              <a:solidFill>
                <a:schemeClr val="dk1"/>
              </a:solidFill>
              <a:latin typeface="Times New Roman" panose="02020603050405020304" pitchFamily="18" charset="0"/>
              <a:ea typeface="Times New Roman" panose="02020603050405020304"/>
              <a:cs typeface="Times New Roman" panose="02020603050405020304" pitchFamily="18" charset="0"/>
              <a:sym typeface="Times New Roman" panose="02020603050405020304"/>
            </a:endParaRPr>
          </a:p>
          <a:p>
            <a:pPr lvl="0" algn="just">
              <a:lnSpc>
                <a:spcPct val="150000"/>
              </a:lnSpc>
              <a:buClr>
                <a:schemeClr val="dk1"/>
              </a:buClr>
              <a:buSzPts val="1800"/>
            </a:pPr>
            <a:r>
              <a:rPr lang="en-US" b="1" dirty="0">
                <a:solidFill>
                  <a:schemeClr val="dk1"/>
                </a:solidFill>
                <a:latin typeface="Times New Roman" panose="02020603050405020304" pitchFamily="18" charset="0"/>
                <a:ea typeface="Times New Roman" panose="02020603050405020304"/>
                <a:cs typeface="Times New Roman" panose="02020603050405020304" pitchFamily="18" charset="0"/>
                <a:sym typeface="Times New Roman" panose="02020603050405020304"/>
              </a:rPr>
              <a:t>                                                NUNE BHUVANESWAR REDDY                  22481A4282</a:t>
            </a:r>
            <a:endParaRPr lang="en-US" b="1" dirty="0">
              <a:solidFill>
                <a:schemeClr val="dk1"/>
              </a:solidFill>
              <a:latin typeface="Times New Roman" panose="02020603050405020304" pitchFamily="18" charset="0"/>
              <a:ea typeface="Times New Roman" panose="02020603050405020304"/>
              <a:cs typeface="Times New Roman" panose="02020603050405020304" pitchFamily="18" charset="0"/>
              <a:sym typeface="Times New Roman" panose="02020603050405020304"/>
            </a:endParaRPr>
          </a:p>
          <a:p>
            <a:pPr marL="0" marR="0" lvl="0" indent="0" algn="ctr" rtl="0">
              <a:lnSpc>
                <a:spcPct val="100000"/>
              </a:lnSpc>
              <a:spcBef>
                <a:spcPts val="0"/>
              </a:spcBef>
              <a:spcAft>
                <a:spcPts val="0"/>
              </a:spcAft>
              <a:buClr>
                <a:schemeClr val="dk1"/>
              </a:buClr>
              <a:buSzPts val="1800"/>
              <a:buFont typeface="Arial" panose="020B0604020202020204"/>
              <a:buNone/>
            </a:pPr>
            <a:r>
              <a:rPr lang="en-US" sz="1800" b="0" i="0" u="none" strike="noStrike" cap="none" dirty="0">
                <a:solidFill>
                  <a:schemeClr val="dk1"/>
                </a:solidFill>
                <a:latin typeface="Times New Roman" panose="02020603050405020304" pitchFamily="18" charset="0"/>
                <a:ea typeface="Times New Roman" panose="02020603050405020304"/>
                <a:cs typeface="Times New Roman" panose="02020603050405020304" pitchFamily="18" charset="0"/>
                <a:sym typeface="Times New Roman" panose="02020603050405020304"/>
              </a:rPr>
              <a:t>Under the guidance of</a:t>
            </a:r>
            <a:endParaRPr lang="en-US" dirty="0">
              <a:latin typeface="Times New Roman" panose="02020603050405020304" pitchFamily="18" charset="0"/>
              <a:cs typeface="Times New Roman" panose="02020603050405020304" pitchFamily="18" charset="0"/>
            </a:endParaRPr>
          </a:p>
          <a:p>
            <a:pPr lvl="0" algn="ctr">
              <a:buClr>
                <a:srgbClr val="000000"/>
              </a:buClr>
              <a:buSzPts val="1800"/>
            </a:pPr>
            <a:r>
              <a:rPr lang="en-US" b="1" dirty="0">
                <a:solidFill>
                  <a:schemeClr val="dk1"/>
                </a:solidFill>
                <a:latin typeface="Times New Roman" panose="02020603050405020304" pitchFamily="18" charset="0"/>
                <a:ea typeface="Times New Roman" panose="02020603050405020304"/>
                <a:cs typeface="Times New Roman" panose="02020603050405020304" pitchFamily="18" charset="0"/>
                <a:sym typeface="Times New Roman" panose="02020603050405020304"/>
              </a:rPr>
              <a:t>Dr. Y. Adilakshmi, M. Tech, </a:t>
            </a:r>
            <a:r>
              <a:rPr lang="en-US" b="1" dirty="0" err="1">
                <a:solidFill>
                  <a:schemeClr val="dk1"/>
                </a:solidFill>
                <a:latin typeface="Times New Roman" panose="02020603050405020304" pitchFamily="18" charset="0"/>
                <a:ea typeface="Times New Roman" panose="02020603050405020304"/>
                <a:cs typeface="Times New Roman" panose="02020603050405020304" pitchFamily="18" charset="0"/>
                <a:sym typeface="Times New Roman" panose="02020603050405020304"/>
              </a:rPr>
              <a:t>Ph.D</a:t>
            </a:r>
            <a:endParaRPr lang="en-US" sz="1800" b="1" i="0" u="none" strike="noStrike" cap="none" dirty="0">
              <a:solidFill>
                <a:schemeClr val="dk1"/>
              </a:solidFill>
              <a:latin typeface="Times New Roman" panose="02020603050405020304" pitchFamily="18" charset="0"/>
              <a:ea typeface="Times New Roman" panose="02020603050405020304"/>
              <a:cs typeface="Times New Roman" panose="02020603050405020304" pitchFamily="18" charset="0"/>
              <a:sym typeface="Times New Roman" panose="02020603050405020304"/>
            </a:endParaRPr>
          </a:p>
          <a:p>
            <a:pPr marL="0" marR="0" lvl="0" indent="0" algn="ctr" rtl="0">
              <a:lnSpc>
                <a:spcPct val="100000"/>
              </a:lnSpc>
              <a:spcBef>
                <a:spcPts val="0"/>
              </a:spcBef>
              <a:spcAft>
                <a:spcPts val="0"/>
              </a:spcAft>
              <a:buClr>
                <a:schemeClr val="dk1"/>
              </a:buClr>
              <a:buSzPts val="1800"/>
              <a:buFont typeface="Arial" panose="020B0604020202020204"/>
              <a:buNone/>
            </a:pPr>
            <a:r>
              <a:rPr lang="en-US" sz="1800" b="0" i="0" u="none" strike="noStrike" cap="none" dirty="0">
                <a:solidFill>
                  <a:schemeClr val="dk1"/>
                </a:solidFill>
                <a:latin typeface="Times New Roman" panose="02020603050405020304" pitchFamily="18" charset="0"/>
                <a:ea typeface="Times New Roman" panose="02020603050405020304"/>
                <a:cs typeface="Times New Roman" panose="02020603050405020304" pitchFamily="18" charset="0"/>
                <a:sym typeface="Times New Roman" panose="02020603050405020304"/>
              </a:rPr>
              <a:t>Professor  &amp;</a:t>
            </a:r>
            <a:r>
              <a:rPr lang="en-US" dirty="0">
                <a:solidFill>
                  <a:schemeClr val="dk1"/>
                </a:solidFill>
                <a:latin typeface="Times New Roman" panose="02020603050405020304" pitchFamily="18" charset="0"/>
                <a:ea typeface="Times New Roman" panose="02020603050405020304"/>
                <a:cs typeface="Times New Roman" panose="02020603050405020304" pitchFamily="18" charset="0"/>
                <a:sym typeface="Times New Roman" panose="02020603050405020304"/>
              </a:rPr>
              <a:t> Head of the </a:t>
            </a:r>
            <a:r>
              <a:rPr lang="en-US" sz="1800" b="0" i="0" u="none" strike="noStrike" cap="none" dirty="0">
                <a:solidFill>
                  <a:schemeClr val="dk1"/>
                </a:solidFill>
                <a:latin typeface="Times New Roman" panose="02020603050405020304" pitchFamily="18" charset="0"/>
                <a:ea typeface="Times New Roman" panose="02020603050405020304"/>
                <a:cs typeface="Times New Roman" panose="02020603050405020304" pitchFamily="18" charset="0"/>
                <a:sym typeface="Times New Roman" panose="02020603050405020304"/>
              </a:rPr>
              <a:t>Dept of CSE (Artificial Intelligence and Machine Learning)</a:t>
            </a:r>
            <a:endParaRPr lang="en-US" sz="1800" b="0" i="0" u="none" strike="noStrike" cap="none" dirty="0">
              <a:solidFill>
                <a:schemeClr val="dk1"/>
              </a:solidFill>
              <a:latin typeface="Times New Roman" panose="02020603050405020304" pitchFamily="18" charset="0"/>
              <a:ea typeface="Times New Roman" panose="02020603050405020304"/>
              <a:cs typeface="Times New Roman" panose="02020603050405020304" pitchFamily="18" charset="0"/>
              <a:sym typeface="Times New Roman" panose="02020603050405020304"/>
            </a:endParaRPr>
          </a:p>
        </p:txBody>
      </p:sp>
      <p:pic>
        <p:nvPicPr>
          <p:cNvPr id="90" name="Google Shape;90;p13"/>
          <p:cNvPicPr preferRelativeResize="0"/>
          <p:nvPr/>
        </p:nvPicPr>
        <p:blipFill rotWithShape="1">
          <a:blip r:embed="rId1"/>
          <a:srcRect/>
          <a:stretch>
            <a:fillRect/>
          </a:stretch>
        </p:blipFill>
        <p:spPr>
          <a:xfrm>
            <a:off x="5132388" y="1015622"/>
            <a:ext cx="1349692" cy="1015623"/>
          </a:xfrm>
          <a:prstGeom prst="rect">
            <a:avLst/>
          </a:prstGeom>
          <a:noFill/>
          <a:ln>
            <a:noFill/>
          </a:ln>
        </p:spPr>
      </p:pic>
    </p:spTree>
  </p:cSld>
  <p:clrMapOvr>
    <a:masterClrMapping/>
  </p:clrMapOvr>
  <p:transition spd="slow">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
          <p:cNvSpPr txBox="1"/>
          <p:nvPr/>
        </p:nvSpPr>
        <p:spPr>
          <a:xfrm>
            <a:off x="375920" y="945078"/>
            <a:ext cx="10092690" cy="1097082"/>
          </a:xfrm>
          <a:prstGeom prst="rect">
            <a:avLst/>
          </a:prstGeom>
          <a:noFill/>
        </p:spPr>
        <p:txBody>
          <a:bodyPr wrap="square" rtlCol="0" anchor="t">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4800" b="1" dirty="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sym typeface="+mn-ea"/>
              </a:rPr>
              <a:t>Contents:</a:t>
            </a:r>
            <a:endParaRPr lang="en-US" altLang="en-US" sz="4800" b="1" dirty="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sym typeface="+mn-ea"/>
            </a:endParaRPr>
          </a:p>
        </p:txBody>
      </p:sp>
      <p:sp>
        <p:nvSpPr>
          <p:cNvPr id="3" name="Text Box 2"/>
          <p:cNvSpPr txBox="1"/>
          <p:nvPr/>
        </p:nvSpPr>
        <p:spPr>
          <a:xfrm>
            <a:off x="375920" y="2113279"/>
            <a:ext cx="10092690" cy="3851911"/>
          </a:xfrm>
          <a:prstGeom prst="rect">
            <a:avLst/>
          </a:prstGeom>
          <a:noFill/>
        </p:spPr>
        <p:txBody>
          <a:bodyPr wrap="square" rtlCol="0" anchor="t">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buFont typeface="Wingdings" panose="05000000000000000000" pitchFamily="2" charset="2"/>
              <a:buChar char="Ø"/>
            </a:pPr>
            <a:r>
              <a:rPr lang="en-US" sz="3400" dirty="0">
                <a:latin typeface="Times New Roman" panose="02020603050405020304" pitchFamily="18" charset="0"/>
                <a:cs typeface="Times New Roman" panose="02020603050405020304" pitchFamily="18" charset="0"/>
                <a:sym typeface="+mn-ea"/>
              </a:rPr>
              <a:t>Abstract</a:t>
            </a:r>
            <a:endParaRPr lang="en-US" sz="3400"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US" sz="3400" dirty="0">
                <a:latin typeface="Times New Roman" panose="02020603050405020304" pitchFamily="18" charset="0"/>
                <a:cs typeface="Times New Roman" panose="02020603050405020304" pitchFamily="18" charset="0"/>
                <a:sym typeface="+mn-ea"/>
              </a:rPr>
              <a:t> Introduction</a:t>
            </a:r>
            <a:endParaRPr lang="en-US" sz="3400"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US" sz="3400" dirty="0">
                <a:latin typeface="Times New Roman" panose="02020603050405020304" pitchFamily="18" charset="0"/>
                <a:cs typeface="Times New Roman" panose="02020603050405020304" pitchFamily="18" charset="0"/>
                <a:sym typeface="+mn-ea"/>
              </a:rPr>
              <a:t> Objectives</a:t>
            </a:r>
            <a:endParaRPr lang="en-US" sz="3400"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US" sz="3400" dirty="0">
                <a:latin typeface="Times New Roman" panose="02020603050405020304" pitchFamily="18" charset="0"/>
                <a:cs typeface="Times New Roman" panose="02020603050405020304" pitchFamily="18" charset="0"/>
                <a:sym typeface="+mn-ea"/>
              </a:rPr>
              <a:t> Existing System</a:t>
            </a:r>
            <a:endParaRPr lang="en-US" sz="3400"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US" sz="3400" dirty="0">
                <a:latin typeface="Times New Roman" panose="02020603050405020304" pitchFamily="18" charset="0"/>
                <a:cs typeface="Times New Roman" panose="02020603050405020304" pitchFamily="18" charset="0"/>
                <a:sym typeface="+mn-ea"/>
              </a:rPr>
              <a:t> Proposed System</a:t>
            </a:r>
            <a:endParaRPr lang="en-US" sz="3400"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US" sz="3400" dirty="0">
                <a:latin typeface="Times New Roman" panose="02020603050405020304" pitchFamily="18" charset="0"/>
                <a:cs typeface="Times New Roman" panose="02020603050405020304" pitchFamily="18" charset="0"/>
                <a:sym typeface="+mn-ea"/>
              </a:rPr>
              <a:t> Implementation</a:t>
            </a:r>
            <a:endParaRPr lang="en-US" sz="3400"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US" sz="3400" dirty="0">
                <a:latin typeface="Times New Roman" panose="02020603050405020304" pitchFamily="18" charset="0"/>
                <a:cs typeface="Times New Roman" panose="02020603050405020304" pitchFamily="18" charset="0"/>
                <a:sym typeface="+mn-ea"/>
              </a:rPr>
              <a:t> Results</a:t>
            </a:r>
            <a:endParaRPr lang="en-US" altLang="en-US" sz="3400" dirty="0">
              <a:latin typeface="Times New Roman" panose="02020603050405020304" pitchFamily="18" charset="0"/>
              <a:cs typeface="Times New Roman" panose="02020603050405020304" pitchFamily="18" charset="0"/>
              <a:sym typeface="+mn-ea"/>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sp>
        <p:nvSpPr>
          <p:cNvPr id="95" name="Google Shape;95;p14"/>
          <p:cNvSpPr txBox="1">
            <a:spLocks noGrp="1"/>
          </p:cNvSpPr>
          <p:nvPr>
            <p:ph type="ctrTitle"/>
          </p:nvPr>
        </p:nvSpPr>
        <p:spPr>
          <a:xfrm>
            <a:off x="196645" y="137652"/>
            <a:ext cx="10471355" cy="727587"/>
          </a:xfrm>
          <a:prstGeom prst="rect">
            <a:avLst/>
          </a:prstGeom>
          <a:noFill/>
          <a:ln>
            <a:noFill/>
          </a:ln>
        </p:spPr>
        <p:txBody>
          <a:bodyPr spcFirstLastPara="1" wrap="square" lIns="91425" tIns="45700" rIns="91425" bIns="45700" anchor="b" anchorCtr="0">
            <a:normAutofit/>
          </a:bodyPr>
          <a:lstStyle/>
          <a:p>
            <a:pPr marL="0" marR="0" lvl="0" indent="0" algn="l" rtl="0">
              <a:lnSpc>
                <a:spcPct val="90000"/>
              </a:lnSpc>
              <a:spcBef>
                <a:spcPts val="0"/>
              </a:spcBef>
              <a:spcAft>
                <a:spcPts val="0"/>
              </a:spcAft>
              <a:buClr>
                <a:schemeClr val="dk1"/>
              </a:buClr>
              <a:buSzPts val="4000"/>
              <a:buFont typeface="Times New Roman" panose="02020603050405020304"/>
              <a:buNone/>
            </a:pPr>
            <a:r>
              <a:rPr lang="en-US" sz="3200" b="1" i="0" u="none" strike="noStrike" cap="none" dirty="0">
                <a:solidFill>
                  <a:schemeClr val="dk1"/>
                </a:solidFill>
                <a:latin typeface="Times New Roman" panose="02020603050405020304"/>
                <a:ea typeface="Times New Roman" panose="02020603050405020304"/>
                <a:cs typeface="Times New Roman" panose="02020603050405020304"/>
                <a:sym typeface="Times New Roman" panose="02020603050405020304"/>
              </a:rPr>
              <a:t>ABSTRACT :</a:t>
            </a:r>
            <a:endParaRPr sz="3200" b="1" i="0" u="none" strike="noStrike" cap="none" dirty="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5" name="Rectangle 3"/>
          <p:cNvSpPr>
            <a:spLocks noGrp="1" noChangeArrowheads="1"/>
          </p:cNvSpPr>
          <p:nvPr>
            <p:ph type="subTitle" idx="1"/>
          </p:nvPr>
        </p:nvSpPr>
        <p:spPr bwMode="auto">
          <a:xfrm>
            <a:off x="427990" y="997585"/>
            <a:ext cx="10279380" cy="5270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noAutofit/>
          </a:bodyPr>
          <a:lstStyle/>
          <a:p>
            <a:pPr algn="just"/>
            <a:r>
              <a:rPr lang="en-US" altLang="en-GB" sz="2000" dirty="0">
                <a:latin typeface="Times New Roman" panose="02020603050405020304" pitchFamily="18" charset="0"/>
                <a:cs typeface="Times New Roman" panose="02020603050405020304" pitchFamily="18" charset="0"/>
              </a:rPr>
              <a:t>The proliferation of misinformation in digital media poses significant threats to social stability, public health, and democratic processes worldwide. Existing fake news detection systems typically rely on static machine learning models that cannot adapt to evolving misinformation tactics, or on manual fact-checking processes that lack scalability. This paper presents FakeGuard, a novel hybrid framework that integrates a fine tuned BERT-based transformer model with a large language model (Google Gemini 2.5 Flash) and real-time news aggregation for accurate, explainable, and scalable fake news detection. The system architecture comprises three core components: a text classification pipeline using a pre-trained BERT model fine tuned on fake news datasets; a social media analysis module leveraging Gemini AI for contextual understanding and multi factor reasoning; and a real-time news verification engine that aggregates live articles from NewsAPI and GNews, performs source credibility scoring, and applies ML-based content analysis. A confidence-based fallback mechanism ensures system robustness by dynamically switching between the LLM and BERT model during service degradation. Experimental evaluation on the ISOT Fake News Dataset demonstrates that the BERT component achieves 98.7% accuracy and an F1-score of 0.987, while the hybrid system maintains average inference latency of 1.42 seconds for text analysis under steady-state conditions. The complete system is deployed as a production-ready web application with FastAPI backend and React frontend, demonstrating practical viability for real-world misinformation detection.</a:t>
            </a:r>
            <a:endParaRPr lang="en-US" altLang="en-GB" sz="2000" dirty="0">
              <a:latin typeface="Times New Roman" panose="02020603050405020304" pitchFamily="18" charset="0"/>
              <a:cs typeface="Times New Roman" panose="02020603050405020304" pitchFamily="18" charset="0"/>
            </a:endParaRPr>
          </a:p>
        </p:txBody>
      </p:sp>
    </p:spTree>
  </p:cSld>
  <p:clrMapOvr>
    <a:masterClrMapping/>
  </p:clrMapOvr>
  <p:transition spd="med">
    <p:push/>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041890" cy="977265"/>
          </a:xfrm>
        </p:spPr>
        <p:txBody>
          <a:bodyPr>
            <a:normAutofit fontScale="90000"/>
          </a:bodyPr>
          <a:lstStyle/>
          <a:p>
            <a:br>
              <a:rPr lang="en-US" b="1" dirty="0">
                <a:latin typeface="Times New Roman" panose="02020603050405020304" pitchFamily="18" charset="0"/>
                <a:cs typeface="Times New Roman" panose="02020603050405020304" pitchFamily="18" charset="0"/>
              </a:rPr>
            </a:br>
            <a:r>
              <a:rPr lang="en-US" b="1" dirty="0">
                <a:latin typeface="Times New Roman" panose="02020603050405020304" pitchFamily="18" charset="0"/>
                <a:cs typeface="Times New Roman" panose="02020603050405020304" pitchFamily="18" charset="0"/>
              </a:rPr>
              <a:t>Introduction:</a:t>
            </a:r>
            <a:br>
              <a:rPr lang="en-US" b="1" dirty="0">
                <a:latin typeface="Times New Roman" panose="02020603050405020304" pitchFamily="18" charset="0"/>
                <a:cs typeface="Times New Roman" panose="02020603050405020304" pitchFamily="18" charset="0"/>
              </a:rPr>
            </a:br>
            <a:endParaRPr lang="en-IN"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613410" y="1342390"/>
            <a:ext cx="10923270" cy="5211445"/>
          </a:xfrm>
        </p:spPr>
        <p:txBody>
          <a:bodyPr>
            <a:normAutofit lnSpcReduction="10000"/>
          </a:bodyPr>
          <a:lstStyle/>
          <a:p>
            <a:pPr algn="just">
              <a:lnSpc>
                <a:spcPct val="100000"/>
              </a:lnSpc>
            </a:pPr>
            <a:r>
              <a:rPr lang="en-US" altLang="en-GB" sz="2000" dirty="0">
                <a:latin typeface="Times New Roman" panose="02020603050405020304" pitchFamily="18" charset="0"/>
                <a:cs typeface="Times New Roman" panose="02020603050405020304" pitchFamily="18" charset="0"/>
              </a:rPr>
              <a:t>The digital information ecosystem has grown rapidly in recent years, with social media platforms and online news sources becoming the primary means of information consumption for billions of users worldwide. This widespread accessibility has transformed how people access, share, and interpret news on a daily basis.</a:t>
            </a:r>
            <a:endParaRPr lang="en-US" altLang="en-GB" sz="2000" dirty="0">
              <a:latin typeface="Times New Roman" panose="02020603050405020304" pitchFamily="18" charset="0"/>
              <a:cs typeface="Times New Roman" panose="02020603050405020304" pitchFamily="18" charset="0"/>
            </a:endParaRPr>
          </a:p>
          <a:p>
            <a:pPr algn="just">
              <a:lnSpc>
                <a:spcPct val="100000"/>
              </a:lnSpc>
            </a:pPr>
            <a:r>
              <a:rPr lang="en-US" altLang="en-GB" sz="2000" dirty="0">
                <a:latin typeface="Times New Roman" panose="02020603050405020304" pitchFamily="18" charset="0"/>
                <a:cs typeface="Times New Roman" panose="02020603050405020304" pitchFamily="18" charset="0"/>
              </a:rPr>
              <a:t>Along with this growth, there has been a significant rise in misinformation, disinformation, and fake news, which spreads quickly across digital platforms. The ease of content creation and sharing has made it difficult to control the authenticity of information.</a:t>
            </a:r>
            <a:endParaRPr lang="en-US" altLang="en-GB" sz="2000" dirty="0">
              <a:latin typeface="Times New Roman" panose="02020603050405020304" pitchFamily="18" charset="0"/>
              <a:cs typeface="Times New Roman" panose="02020603050405020304" pitchFamily="18" charset="0"/>
            </a:endParaRPr>
          </a:p>
          <a:p>
            <a:pPr algn="just">
              <a:lnSpc>
                <a:spcPct val="100000"/>
              </a:lnSpc>
            </a:pPr>
            <a:r>
              <a:rPr lang="en-US" altLang="en-GB" sz="2000" dirty="0">
                <a:latin typeface="Times New Roman" panose="02020603050405020304" pitchFamily="18" charset="0"/>
                <a:cs typeface="Times New Roman" panose="02020603050405020304" pitchFamily="18" charset="0"/>
              </a:rPr>
              <a:t>The impact of fake news is severe and far-reaching, leading to reduced public trust in media, increased societal polarization, misinformation during critical events such as pandemics, and threats to democratic systems and decision-making processes</a:t>
            </a:r>
            <a:endParaRPr lang="en-US" altLang="en-GB" sz="2000" dirty="0">
              <a:latin typeface="Times New Roman" panose="02020603050405020304" pitchFamily="18" charset="0"/>
              <a:cs typeface="Times New Roman" panose="02020603050405020304" pitchFamily="18" charset="0"/>
            </a:endParaRPr>
          </a:p>
          <a:p>
            <a:pPr algn="just">
              <a:lnSpc>
                <a:spcPct val="100000"/>
              </a:lnSpc>
            </a:pPr>
            <a:r>
              <a:rPr lang="en-US" altLang="en-GB" sz="2000" dirty="0">
                <a:latin typeface="Times New Roman" panose="02020603050405020304" pitchFamily="18" charset="0"/>
                <a:cs typeface="Times New Roman" panose="02020603050405020304" pitchFamily="18" charset="0"/>
              </a:rPr>
              <a:t>Traditional approaches to fake news detection mainly include manual fact-checking by experts and automated machine learning systems. Manual methods provide high accuracy but are time-consuming and cannot scale to handle the massive volume of daily content generated online.</a:t>
            </a:r>
            <a:endParaRPr lang="en-US" altLang="en-GB" sz="2000" dirty="0">
              <a:latin typeface="Times New Roman" panose="02020603050405020304" pitchFamily="18" charset="0"/>
              <a:cs typeface="Times New Roman" panose="02020603050405020304" pitchFamily="18" charset="0"/>
            </a:endParaRPr>
          </a:p>
          <a:p>
            <a:pPr algn="just">
              <a:lnSpc>
                <a:spcPct val="100000"/>
              </a:lnSpc>
            </a:pPr>
            <a:r>
              <a:rPr lang="en-US" altLang="en-GB" sz="2000" dirty="0">
                <a:latin typeface="Times New Roman" panose="02020603050405020304" pitchFamily="18" charset="0"/>
                <a:cs typeface="Times New Roman" panose="02020603050405020304" pitchFamily="18" charset="0"/>
              </a:rPr>
              <a:t>Automated machine learning-based systems offer scalability and faster processing but suffer from several limitations, such as reliance on static datasets, inability to adapt to evolving misinformation strategies, lack of explainability, and limited contextual understanding of content.</a:t>
            </a:r>
            <a:endParaRPr lang="en-US" altLang="en-GB" sz="20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200" y="365125"/>
            <a:ext cx="10515600" cy="1177290"/>
          </a:xfrm>
        </p:spPr>
        <p:txBody>
          <a:bodyPr>
            <a:normAutofit fontScale="90000"/>
          </a:bodyPr>
          <a:p>
            <a:br>
              <a:rPr lang="en-US" b="1" dirty="0">
                <a:latin typeface="Times New Roman" panose="02020603050405020304" pitchFamily="18" charset="0"/>
                <a:cs typeface="Times New Roman" panose="02020603050405020304" pitchFamily="18" charset="0"/>
                <a:sym typeface="+mn-ea"/>
              </a:rPr>
            </a:br>
            <a:r>
              <a:rPr lang="en-US" b="1" dirty="0">
                <a:latin typeface="Times New Roman" panose="02020603050405020304" pitchFamily="18" charset="0"/>
                <a:cs typeface="Times New Roman" panose="02020603050405020304" pitchFamily="18" charset="0"/>
                <a:sym typeface="+mn-ea"/>
              </a:rPr>
              <a:t>Introduction:</a:t>
            </a:r>
            <a:br>
              <a:rPr lang="en-US" b="1" dirty="0">
                <a:latin typeface="Times New Roman" panose="02020603050405020304" pitchFamily="18" charset="0"/>
                <a:cs typeface="Times New Roman" panose="02020603050405020304" pitchFamily="18" charset="0"/>
                <a:sym typeface="+mn-ea"/>
              </a:rPr>
            </a:br>
            <a:endParaRPr lang="en-GB" altLang="en-US"/>
          </a:p>
        </p:txBody>
      </p:sp>
      <p:sp>
        <p:nvSpPr>
          <p:cNvPr id="3" name="Content Placeholder 2"/>
          <p:cNvSpPr>
            <a:spLocks noGrp="1"/>
          </p:cNvSpPr>
          <p:nvPr>
            <p:ph idx="1"/>
          </p:nvPr>
        </p:nvSpPr>
        <p:spPr>
          <a:xfrm>
            <a:off x="838200" y="1631315"/>
            <a:ext cx="10515600" cy="4957445"/>
          </a:xfrm>
        </p:spPr>
        <p:txBody>
          <a:bodyPr>
            <a:normAutofit fontScale="90000"/>
          </a:bodyPr>
          <a:p>
            <a:pPr algn="just">
              <a:lnSpc>
                <a:spcPct val="100000"/>
              </a:lnSpc>
            </a:pPr>
            <a:r>
              <a:rPr lang="en-US" altLang="en-GB" sz="2500">
                <a:latin typeface="Times New Roman" panose="02020603050405020304" pitchFamily="18" charset="0"/>
                <a:cs typeface="Times New Roman" panose="02020603050405020304" pitchFamily="18" charset="0"/>
              </a:rPr>
              <a:t>Existing fake news detection systems often operate in isolation without incorporating real-time verification or cross-checking with live news sources, which reduces their effectiveness in identifying newly emerging false information.  </a:t>
            </a:r>
            <a:endParaRPr lang="en-US" altLang="en-GB" sz="2500">
              <a:latin typeface="Times New Roman" panose="02020603050405020304" pitchFamily="18" charset="0"/>
              <a:cs typeface="Times New Roman" panose="02020603050405020304" pitchFamily="18" charset="0"/>
            </a:endParaRPr>
          </a:p>
          <a:p>
            <a:pPr algn="just">
              <a:lnSpc>
                <a:spcPct val="100000"/>
              </a:lnSpc>
            </a:pPr>
            <a:r>
              <a:rPr lang="en-US" altLang="en-GB" sz="2500">
                <a:latin typeface="Times New Roman" panose="02020603050405020304" pitchFamily="18" charset="0"/>
                <a:cs typeface="Times New Roman" panose="02020603050405020304" pitchFamily="18" charset="0"/>
              </a:rPr>
              <a:t>There is a strong need for an advanced and integrated solution that combines the strengths of multiple technologies, including accurate classification, contextual reasoning, explainability, and real-time validation of information.  </a:t>
            </a:r>
            <a:endParaRPr lang="en-US" altLang="en-GB" sz="2500">
              <a:latin typeface="Times New Roman" panose="02020603050405020304" pitchFamily="18" charset="0"/>
              <a:cs typeface="Times New Roman" panose="02020603050405020304" pitchFamily="18" charset="0"/>
            </a:endParaRPr>
          </a:p>
          <a:p>
            <a:pPr algn="just">
              <a:lnSpc>
                <a:spcPct val="100000"/>
              </a:lnSpc>
            </a:pPr>
            <a:r>
              <a:rPr lang="en-US" altLang="en-GB" sz="2500">
                <a:latin typeface="Times New Roman" panose="02020603050405020304" pitchFamily="18" charset="0"/>
                <a:cs typeface="Times New Roman" panose="02020603050405020304" pitchFamily="18" charset="0"/>
              </a:rPr>
              <a:t>The proposed system introduces a hybrid AI-powered framework that integrates transformer-based models (such as BERT), large language models, and real-time news verification mechanisms to overcome the limitations of traditional approaches.  </a:t>
            </a:r>
            <a:endParaRPr lang="en-US" altLang="en-GB" sz="2500">
              <a:latin typeface="Times New Roman" panose="02020603050405020304" pitchFamily="18" charset="0"/>
              <a:cs typeface="Times New Roman" panose="02020603050405020304" pitchFamily="18" charset="0"/>
            </a:endParaRPr>
          </a:p>
          <a:p>
            <a:pPr algn="just">
              <a:lnSpc>
                <a:spcPct val="100000"/>
              </a:lnSpc>
            </a:pPr>
            <a:r>
              <a:rPr lang="en-US" altLang="en-GB" sz="2500">
                <a:latin typeface="Times New Roman" panose="02020603050405020304" pitchFamily="18" charset="0"/>
                <a:cs typeface="Times New Roman" panose="02020603050405020304" pitchFamily="18" charset="0"/>
              </a:rPr>
              <a:t>By combining these components into a unified architecture, the system aims to deliver a more reliable, scalable, and explainable solution for fake news detection, making it suitable for real-world applications and practical deployment</a:t>
            </a:r>
            <a:endParaRPr lang="en-US" altLang="en-GB" sz="2500">
              <a:latin typeface="Times New Roman" panose="02020603050405020304" pitchFamily="18" charset="0"/>
              <a:cs typeface="Times New Roman" panose="02020603050405020304"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sp>
        <p:nvSpPr>
          <p:cNvPr id="101" name="Google Shape;101;p15"/>
          <p:cNvSpPr txBox="1">
            <a:spLocks noGrp="1"/>
          </p:cNvSpPr>
          <p:nvPr>
            <p:ph type="title"/>
          </p:nvPr>
        </p:nvSpPr>
        <p:spPr>
          <a:xfrm>
            <a:off x="1" y="1"/>
            <a:ext cx="11353800" cy="1747776"/>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None/>
            </a:pPr>
            <a:r>
              <a:rPr lang="en-US" sz="3200" b="1" i="0" u="none" strike="noStrike" cap="none" dirty="0">
                <a:solidFill>
                  <a:schemeClr val="dk1"/>
                </a:solidFill>
                <a:latin typeface="Times New Roman" panose="02020603050405020304"/>
                <a:ea typeface="Times New Roman" panose="02020603050405020304"/>
                <a:cs typeface="Times New Roman" panose="02020603050405020304"/>
                <a:sym typeface="Times New Roman" panose="02020603050405020304"/>
              </a:rPr>
              <a:t> OBJECTIVE :</a:t>
            </a:r>
            <a:endParaRPr sz="3200" dirty="0"/>
          </a:p>
        </p:txBody>
      </p:sp>
      <p:sp>
        <p:nvSpPr>
          <p:cNvPr id="3" name="Text Placeholder 2"/>
          <p:cNvSpPr>
            <a:spLocks noGrp="1" noChangeArrowheads="1"/>
          </p:cNvSpPr>
          <p:nvPr>
            <p:ph type="body" idx="1"/>
          </p:nvPr>
        </p:nvSpPr>
        <p:spPr bwMode="auto">
          <a:xfrm>
            <a:off x="231495" y="959101"/>
            <a:ext cx="11597832" cy="51706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endPar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pP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develop a robust system for automatic </a:t>
            </a:r>
            <a:r>
              <a:rPr kumimoji="0" lang="en-US" altLang="en-US" sz="2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Fake News Detection (FND)</a:t>
            </a: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to identify misleading information in digital media. </a:t>
            </a:r>
            <a:endPar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pP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capture semantic relationships between </a:t>
            </a:r>
            <a:r>
              <a:rPr kumimoji="0" lang="en-US" altLang="en-US" sz="2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news content</a:t>
            </a: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including headlines, body text, and user comments, for better contextual understanding. </a:t>
            </a:r>
            <a:endPar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pP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leverage advanced deep learning models such as </a:t>
            </a:r>
            <a:r>
              <a:rPr kumimoji="0" lang="en-US" altLang="en-US" sz="2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BERT (Bidirectional Encoder Representations from Transformers)</a:t>
            </a: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for effective text representation and classification. </a:t>
            </a:r>
            <a:endPar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pP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design a </a:t>
            </a:r>
            <a:r>
              <a:rPr kumimoji="0" lang="en-US" altLang="en-US" sz="2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cross-level and cross-modality attention network</a:t>
            </a: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enabling the model to extract rich features from multiple data sources. </a:t>
            </a:r>
            <a:endPar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pP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incorporate </a:t>
            </a:r>
            <a:r>
              <a:rPr kumimoji="0" lang="en-US" altLang="en-US" sz="2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user-posting behavioral features</a:t>
            </a: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such as sharing patterns and engagement, to enhance detection accuracy. </a:t>
            </a:r>
            <a:endPar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pP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evaluate the system using benchmark datasets like </a:t>
            </a:r>
            <a:r>
              <a:rPr kumimoji="0" lang="en-US" altLang="en-US" sz="2200"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FakeNewsNet</a:t>
            </a:r>
            <a:r>
              <a:rPr kumimoji="0" lang="en-US" altLang="en-US" sz="2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(Fake News Network dataset)</a:t>
            </a: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and </a:t>
            </a:r>
            <a:r>
              <a:rPr kumimoji="0" lang="en-US" altLang="en-US" sz="2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PG (PolitiFact and </a:t>
            </a:r>
            <a:r>
              <a:rPr kumimoji="0" lang="en-US" altLang="en-US" sz="2200"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GossipCop</a:t>
            </a:r>
            <a:r>
              <a:rPr kumimoji="0" lang="en-US" altLang="en-US" sz="2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datasets)</a:t>
            </a: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for reliable performance assessment. </a:t>
            </a:r>
            <a:endPar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pP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demonstrate improved performance and effectiveness compared to </a:t>
            </a:r>
            <a:r>
              <a:rPr kumimoji="0" lang="en-US" altLang="en-US" sz="2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existing state-of-the-art (SOTA) models</a:t>
            </a: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endPar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06"/>
        <p:cNvGrpSpPr/>
        <p:nvPr/>
      </p:nvGrpSpPr>
      <p:grpSpPr>
        <a:xfrm>
          <a:off x="0" y="0"/>
          <a:ext cx="0" cy="0"/>
          <a:chOff x="0" y="0"/>
          <a:chExt cx="0" cy="0"/>
        </a:xfrm>
      </p:grpSpPr>
      <p:sp>
        <p:nvSpPr>
          <p:cNvPr id="107" name="Google Shape;107;p16"/>
          <p:cNvSpPr txBox="1">
            <a:spLocks noGrp="1"/>
          </p:cNvSpPr>
          <p:nvPr>
            <p:ph type="title"/>
          </p:nvPr>
        </p:nvSpPr>
        <p:spPr>
          <a:xfrm>
            <a:off x="147320" y="0"/>
            <a:ext cx="11206480" cy="1050925"/>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None/>
            </a:pPr>
            <a:r>
              <a:rPr lang="en-US" sz="3200" b="1" i="0" u="none" strike="noStrike" cap="none" dirty="0">
                <a:solidFill>
                  <a:schemeClr val="dk1"/>
                </a:solidFill>
                <a:latin typeface="Times New Roman" panose="02020603050405020304"/>
                <a:ea typeface="Times New Roman" panose="02020603050405020304"/>
                <a:cs typeface="Times New Roman" panose="02020603050405020304"/>
                <a:sym typeface="Times New Roman" panose="02020603050405020304"/>
              </a:rPr>
              <a:t> Existing System:</a:t>
            </a:r>
            <a:endParaRPr sz="3200" dirty="0"/>
          </a:p>
        </p:txBody>
      </p:sp>
      <p:sp>
        <p:nvSpPr>
          <p:cNvPr id="2" name="Text Placeholder 1"/>
          <p:cNvSpPr>
            <a:spLocks noGrp="1" noChangeArrowheads="1"/>
          </p:cNvSpPr>
          <p:nvPr>
            <p:ph type="body" idx="1"/>
          </p:nvPr>
        </p:nvSpPr>
        <p:spPr bwMode="auto">
          <a:xfrm>
            <a:off x="231494" y="962625"/>
            <a:ext cx="11881131" cy="54876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L="0" indent="0">
              <a:buNone/>
            </a:pPr>
            <a:r>
              <a:rPr lang="en-US" sz="2400" b="1" dirty="0">
                <a:latin typeface="Times New Roman" panose="02020603050405020304" pitchFamily="18" charset="0"/>
                <a:cs typeface="Times New Roman" panose="02020603050405020304" pitchFamily="18" charset="0"/>
              </a:rPr>
              <a:t>Paper Title:</a:t>
            </a:r>
            <a:r>
              <a:rPr lang="en-US" sz="2400" dirty="0">
                <a:latin typeface="Times New Roman" panose="02020603050405020304" pitchFamily="18" charset="0"/>
                <a:cs typeface="Times New Roman" panose="02020603050405020304" pitchFamily="18" charset="0"/>
              </a:rPr>
              <a:t> Semantic Deep Learning Approach for Fake News Detection</a:t>
            </a:r>
            <a:endParaRPr lang="en-US" sz="2400" dirty="0">
              <a:latin typeface="Times New Roman" panose="02020603050405020304" pitchFamily="18" charset="0"/>
              <a:cs typeface="Times New Roman" panose="02020603050405020304" pitchFamily="18" charset="0"/>
            </a:endParaRPr>
          </a:p>
          <a:p>
            <a:pPr marL="0" indent="0">
              <a:buNone/>
            </a:pPr>
            <a:r>
              <a:rPr lang="en-US" sz="2400" b="1" dirty="0">
                <a:latin typeface="Times New Roman" panose="02020603050405020304" pitchFamily="18" charset="0"/>
                <a:cs typeface="Times New Roman" panose="02020603050405020304" pitchFamily="18" charset="0"/>
              </a:rPr>
              <a:t>Objectives:</a:t>
            </a:r>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Detect fake news using deep learning techniques </a:t>
            </a:r>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Analyze news content, headlines, and user comments </a:t>
            </a:r>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Capture semantic relationships between different components </a:t>
            </a:r>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Use BERT model for text representation </a:t>
            </a:r>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Incorporate user posting behavior features </a:t>
            </a:r>
            <a:endParaRPr lang="en-US" sz="2400" dirty="0">
              <a:latin typeface="Times New Roman" panose="02020603050405020304" pitchFamily="18" charset="0"/>
              <a:cs typeface="Times New Roman" panose="02020603050405020304" pitchFamily="18" charset="0"/>
            </a:endParaRPr>
          </a:p>
          <a:p>
            <a:pPr marL="0" indent="0">
              <a:buNone/>
            </a:pPr>
            <a:r>
              <a:rPr lang="en-US" sz="2400" b="1" dirty="0">
                <a:latin typeface="Times New Roman" panose="02020603050405020304" pitchFamily="18" charset="0"/>
                <a:cs typeface="Times New Roman" panose="02020603050405020304" pitchFamily="18" charset="0"/>
              </a:rPr>
              <a:t>Findings:</a:t>
            </a:r>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Deep learning models improve detection accuracy </a:t>
            </a:r>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Combining content and context gives better results </a:t>
            </a:r>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Attention mechanisms help in understanding relationships </a:t>
            </a:r>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Achieves better performance than traditional ML models</a:t>
            </a:r>
            <a:endParaRPr lang="en-US"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200" y="365125"/>
            <a:ext cx="10515600" cy="845185"/>
          </a:xfrm>
        </p:spPr>
        <p:txBody>
          <a:bodyPr/>
          <a:p>
            <a:r>
              <a:rPr lang="en-US" sz="3200" b="1" dirty="0">
                <a:solidFill>
                  <a:schemeClr val="dk1"/>
                </a:solidFill>
                <a:latin typeface="Times New Roman" panose="02020603050405020304"/>
                <a:ea typeface="Times New Roman" panose="02020603050405020304"/>
                <a:cs typeface="Times New Roman" panose="02020603050405020304"/>
                <a:sym typeface="Times New Roman" panose="02020603050405020304"/>
              </a:rPr>
              <a:t>Existing System:</a:t>
            </a:r>
            <a:endParaRPr lang="en-US" altLang="en-US" sz="3200" b="1" dirty="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3" name="Content Placeholder 2"/>
          <p:cNvSpPr>
            <a:spLocks noGrp="1"/>
          </p:cNvSpPr>
          <p:nvPr>
            <p:ph idx="1"/>
          </p:nvPr>
        </p:nvSpPr>
        <p:spPr>
          <a:xfrm>
            <a:off x="838200" y="1096645"/>
            <a:ext cx="10515600" cy="5641975"/>
          </a:xfrm>
        </p:spPr>
        <p:txBody>
          <a:bodyPr>
            <a:normAutofit lnSpcReduction="10000"/>
          </a:bodyPr>
          <a:p>
            <a:pPr marL="0" indent="0">
              <a:lnSpc>
                <a:spcPct val="100000"/>
              </a:lnSpc>
              <a:buNone/>
            </a:pPr>
            <a:r>
              <a:rPr lang="en-US" altLang="en-GB" sz="2400" b="1">
                <a:latin typeface="Times New Roman" panose="02020603050405020304" pitchFamily="18" charset="0"/>
                <a:cs typeface="Times New Roman" panose="02020603050405020304" pitchFamily="18" charset="0"/>
              </a:rPr>
              <a:t>Paper Title</a:t>
            </a:r>
            <a:r>
              <a:rPr lang="en-US" altLang="en-GB" sz="2400">
                <a:latin typeface="Times New Roman" panose="02020603050405020304" pitchFamily="18" charset="0"/>
                <a:cs typeface="Times New Roman" panose="02020603050405020304" pitchFamily="18" charset="0"/>
              </a:rPr>
              <a:t>: Knowledge-Guided Semantic Fake News Detection Framework</a:t>
            </a:r>
            <a:endParaRPr lang="en-US" altLang="en-GB" sz="2400">
              <a:latin typeface="Times New Roman" panose="02020603050405020304" pitchFamily="18" charset="0"/>
              <a:cs typeface="Times New Roman" panose="02020603050405020304" pitchFamily="18" charset="0"/>
            </a:endParaRPr>
          </a:p>
          <a:p>
            <a:pPr marL="0" indent="0">
              <a:lnSpc>
                <a:spcPct val="100000"/>
              </a:lnSpc>
              <a:buNone/>
            </a:pPr>
            <a:r>
              <a:rPr lang="en-US" altLang="en-GB" sz="2400" b="1">
                <a:latin typeface="Times New Roman" panose="02020603050405020304" pitchFamily="18" charset="0"/>
                <a:cs typeface="Times New Roman" panose="02020603050405020304" pitchFamily="18" charset="0"/>
              </a:rPr>
              <a:t>Objectives:</a:t>
            </a:r>
            <a:endParaRPr lang="en-US" altLang="en-GB" sz="2400">
              <a:latin typeface="Times New Roman" panose="02020603050405020304" pitchFamily="18" charset="0"/>
              <a:cs typeface="Times New Roman" panose="02020603050405020304" pitchFamily="18" charset="0"/>
            </a:endParaRPr>
          </a:p>
          <a:p>
            <a:pPr>
              <a:lnSpc>
                <a:spcPct val="100000"/>
              </a:lnSpc>
            </a:pPr>
            <a:r>
              <a:rPr lang="en-US" altLang="en-GB" sz="2400">
                <a:latin typeface="Times New Roman" panose="02020603050405020304" pitchFamily="18" charset="0"/>
                <a:cs typeface="Times New Roman" panose="02020603050405020304" pitchFamily="18" charset="0"/>
              </a:rPr>
              <a:t>Detect fake news using semantic analysis and external knowledge</a:t>
            </a:r>
            <a:endParaRPr lang="en-US" altLang="en-GB" sz="2400">
              <a:latin typeface="Times New Roman" panose="02020603050405020304" pitchFamily="18" charset="0"/>
              <a:cs typeface="Times New Roman" panose="02020603050405020304" pitchFamily="18" charset="0"/>
            </a:endParaRPr>
          </a:p>
          <a:p>
            <a:pPr>
              <a:lnSpc>
                <a:spcPct val="100000"/>
              </a:lnSpc>
            </a:pPr>
            <a:r>
              <a:rPr lang="en-US" altLang="en-GB" sz="2400">
                <a:latin typeface="Times New Roman" panose="02020603050405020304" pitchFamily="18" charset="0"/>
                <a:cs typeface="Times New Roman" panose="02020603050405020304" pitchFamily="18" charset="0"/>
              </a:rPr>
              <a:t>Compare news content with real-world knowledge graphs</a:t>
            </a:r>
            <a:endParaRPr lang="en-US" altLang="en-GB" sz="2400">
              <a:latin typeface="Times New Roman" panose="02020603050405020304" pitchFamily="18" charset="0"/>
              <a:cs typeface="Times New Roman" panose="02020603050405020304" pitchFamily="18" charset="0"/>
            </a:endParaRPr>
          </a:p>
          <a:p>
            <a:pPr>
              <a:lnSpc>
                <a:spcPct val="100000"/>
              </a:lnSpc>
            </a:pPr>
            <a:r>
              <a:rPr lang="en-US" altLang="en-GB" sz="2400">
                <a:latin typeface="Times New Roman" panose="02020603050405020304" pitchFamily="18" charset="0"/>
                <a:cs typeface="Times New Roman" panose="02020603050405020304" pitchFamily="18" charset="0"/>
              </a:rPr>
              <a:t>Identify inconsistencies between facts and claims</a:t>
            </a:r>
            <a:endParaRPr lang="en-US" altLang="en-GB" sz="2400">
              <a:latin typeface="Times New Roman" panose="02020603050405020304" pitchFamily="18" charset="0"/>
              <a:cs typeface="Times New Roman" panose="02020603050405020304" pitchFamily="18" charset="0"/>
            </a:endParaRPr>
          </a:p>
          <a:p>
            <a:pPr>
              <a:lnSpc>
                <a:spcPct val="100000"/>
              </a:lnSpc>
            </a:pPr>
            <a:r>
              <a:rPr lang="en-US" altLang="en-GB" sz="2400">
                <a:latin typeface="Times New Roman" panose="02020603050405020304" pitchFamily="18" charset="0"/>
                <a:cs typeface="Times New Roman" panose="02020603050405020304" pitchFamily="18" charset="0"/>
              </a:rPr>
              <a:t>Use BERT-based embeddings for semantic representation</a:t>
            </a:r>
            <a:endParaRPr lang="en-US" altLang="en-GB" sz="2400">
              <a:latin typeface="Times New Roman" panose="02020603050405020304" pitchFamily="18" charset="0"/>
              <a:cs typeface="Times New Roman" panose="02020603050405020304" pitchFamily="18" charset="0"/>
            </a:endParaRPr>
          </a:p>
          <a:p>
            <a:pPr>
              <a:lnSpc>
                <a:spcPct val="100000"/>
              </a:lnSpc>
            </a:pPr>
            <a:r>
              <a:rPr lang="en-US" altLang="en-GB" sz="2400">
                <a:latin typeface="Times New Roman" panose="02020603050405020304" pitchFamily="18" charset="0"/>
                <a:cs typeface="Times New Roman" panose="02020603050405020304" pitchFamily="18" charset="0"/>
              </a:rPr>
              <a:t>Enhance detection using knowledge-guided reasoning</a:t>
            </a:r>
            <a:endParaRPr lang="en-US" altLang="en-GB" sz="2400">
              <a:latin typeface="Times New Roman" panose="02020603050405020304" pitchFamily="18" charset="0"/>
              <a:cs typeface="Times New Roman" panose="02020603050405020304" pitchFamily="18" charset="0"/>
            </a:endParaRPr>
          </a:p>
          <a:p>
            <a:pPr marL="0" indent="0">
              <a:lnSpc>
                <a:spcPct val="100000"/>
              </a:lnSpc>
              <a:buNone/>
            </a:pPr>
            <a:r>
              <a:rPr lang="en-US" altLang="en-GB" sz="2400" b="1">
                <a:latin typeface="Times New Roman" panose="02020603050405020304" pitchFamily="18" charset="0"/>
                <a:cs typeface="Times New Roman" panose="02020603050405020304" pitchFamily="18" charset="0"/>
              </a:rPr>
              <a:t>Findings:</a:t>
            </a:r>
            <a:endParaRPr lang="en-US" altLang="en-GB" sz="2400" b="1">
              <a:latin typeface="Times New Roman" panose="02020603050405020304" pitchFamily="18" charset="0"/>
              <a:cs typeface="Times New Roman" panose="02020603050405020304" pitchFamily="18" charset="0"/>
            </a:endParaRPr>
          </a:p>
          <a:p>
            <a:pPr>
              <a:lnSpc>
                <a:spcPct val="100000"/>
              </a:lnSpc>
            </a:pPr>
            <a:r>
              <a:rPr lang="en-US" altLang="en-GB" sz="2400">
                <a:latin typeface="Times New Roman" panose="02020603050405020304" pitchFamily="18" charset="0"/>
                <a:cs typeface="Times New Roman" panose="02020603050405020304" pitchFamily="18" charset="0"/>
              </a:rPr>
              <a:t>Incorporating external knowledge improves detection reliability</a:t>
            </a:r>
            <a:endParaRPr lang="en-US" altLang="en-GB" sz="2400">
              <a:latin typeface="Times New Roman" panose="02020603050405020304" pitchFamily="18" charset="0"/>
              <a:cs typeface="Times New Roman" panose="02020603050405020304" pitchFamily="18" charset="0"/>
            </a:endParaRPr>
          </a:p>
          <a:p>
            <a:pPr>
              <a:lnSpc>
                <a:spcPct val="100000"/>
              </a:lnSpc>
            </a:pPr>
            <a:r>
              <a:rPr lang="en-US" altLang="en-GB" sz="2400">
                <a:latin typeface="Times New Roman" panose="02020603050405020304" pitchFamily="18" charset="0"/>
                <a:cs typeface="Times New Roman" panose="02020603050405020304" pitchFamily="18" charset="0"/>
              </a:rPr>
              <a:t>Semantic inconsistency detection helps identify false claims</a:t>
            </a:r>
            <a:endParaRPr lang="en-US" altLang="en-GB" sz="2400">
              <a:latin typeface="Times New Roman" panose="02020603050405020304" pitchFamily="18" charset="0"/>
              <a:cs typeface="Times New Roman" panose="02020603050405020304" pitchFamily="18" charset="0"/>
            </a:endParaRPr>
          </a:p>
          <a:p>
            <a:pPr>
              <a:lnSpc>
                <a:spcPct val="100000"/>
              </a:lnSpc>
            </a:pPr>
            <a:r>
              <a:rPr lang="en-US" altLang="en-GB" sz="2400">
                <a:latin typeface="Times New Roman" panose="02020603050405020304" pitchFamily="18" charset="0"/>
                <a:cs typeface="Times New Roman" panose="02020603050405020304" pitchFamily="18" charset="0"/>
              </a:rPr>
              <a:t>BERT-based models provide strong contextual understanding</a:t>
            </a:r>
            <a:endParaRPr lang="en-US" altLang="en-GB" sz="2400">
              <a:latin typeface="Times New Roman" panose="02020603050405020304" pitchFamily="18" charset="0"/>
              <a:cs typeface="Times New Roman" panose="02020603050405020304" pitchFamily="18" charset="0"/>
            </a:endParaRPr>
          </a:p>
          <a:p>
            <a:pPr>
              <a:lnSpc>
                <a:spcPct val="100000"/>
              </a:lnSpc>
            </a:pPr>
            <a:r>
              <a:rPr lang="en-US" altLang="en-GB" sz="2400">
                <a:latin typeface="Times New Roman" panose="02020603050405020304" pitchFamily="18" charset="0"/>
                <a:cs typeface="Times New Roman" panose="02020603050405020304" pitchFamily="18" charset="0"/>
              </a:rPr>
              <a:t>Hybrid approaches outperform traditional content-only models</a:t>
            </a:r>
            <a:endParaRPr lang="en-US" altLang="en-GB" sz="2400">
              <a:latin typeface="Times New Roman" panose="02020603050405020304" pitchFamily="18" charset="0"/>
              <a:cs typeface="Times New Roman" panose="02020603050405020304" pitchFamily="18"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12516" y="365125"/>
            <a:ext cx="11041284" cy="1325563"/>
          </a:xfrm>
        </p:spPr>
        <p:txBody>
          <a:bodyPr/>
          <a:lstStyle/>
          <a:p>
            <a:r>
              <a:rPr lang="en-US" b="1" dirty="0">
                <a:latin typeface="Times New Roman" panose="02020603050405020304" pitchFamily="18" charset="0"/>
                <a:cs typeface="Times New Roman" panose="02020603050405020304" pitchFamily="18" charset="0"/>
              </a:rPr>
              <a:t>Limitations of Existing System:</a:t>
            </a:r>
            <a:br>
              <a:rPr lang="en-US" b="1" dirty="0">
                <a:latin typeface="Times New Roman" panose="02020603050405020304" pitchFamily="18" charset="0"/>
                <a:cs typeface="Times New Roman" panose="02020603050405020304" pitchFamily="18" charset="0"/>
              </a:rPr>
            </a:br>
            <a:endParaRPr lang="en-IN"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312517" y="1169043"/>
            <a:ext cx="11041284" cy="5960962"/>
          </a:xfrm>
        </p:spPr>
        <p:txBody>
          <a:bodyPr>
            <a:normAutofit/>
          </a:bodyPr>
          <a:lstStyle/>
          <a:p>
            <a:r>
              <a:rPr lang="en-US" dirty="0">
                <a:latin typeface="Times New Roman" panose="02020603050405020304" pitchFamily="18" charset="0"/>
                <a:cs typeface="Times New Roman" panose="02020603050405020304" pitchFamily="18" charset="0"/>
              </a:rPr>
              <a:t>Most models focus only on </a:t>
            </a:r>
            <a:r>
              <a:rPr lang="en-US" b="1" dirty="0">
                <a:latin typeface="Times New Roman" panose="02020603050405020304" pitchFamily="18" charset="0"/>
                <a:cs typeface="Times New Roman" panose="02020603050405020304" pitchFamily="18" charset="0"/>
              </a:rPr>
              <a:t>text content</a:t>
            </a:r>
            <a:r>
              <a:rPr lang="en-US" dirty="0">
                <a:latin typeface="Times New Roman" panose="02020603050405020304" pitchFamily="18" charset="0"/>
                <a:cs typeface="Times New Roman" panose="02020603050405020304" pitchFamily="18" charset="0"/>
              </a:rPr>
              <a:t>, ignoring full context </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Limited ability to capture </a:t>
            </a:r>
            <a:r>
              <a:rPr lang="en-US" b="1" dirty="0">
                <a:latin typeface="Times New Roman" panose="02020603050405020304" pitchFamily="18" charset="0"/>
                <a:cs typeface="Times New Roman" panose="02020603050405020304" pitchFamily="18" charset="0"/>
              </a:rPr>
              <a:t>semantic relationships</a:t>
            </a:r>
            <a:r>
              <a:rPr lang="en-US" dirty="0">
                <a:latin typeface="Times New Roman" panose="02020603050405020304" pitchFamily="18" charset="0"/>
                <a:cs typeface="Times New Roman" panose="02020603050405020304" pitchFamily="18" charset="0"/>
              </a:rPr>
              <a:t> between news, headlines, and comments </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Many systems use </a:t>
            </a:r>
            <a:r>
              <a:rPr lang="en-US" b="1" dirty="0">
                <a:latin typeface="Times New Roman" panose="02020603050405020304" pitchFamily="18" charset="0"/>
                <a:cs typeface="Times New Roman" panose="02020603050405020304" pitchFamily="18" charset="0"/>
              </a:rPr>
              <a:t>static models</a:t>
            </a:r>
            <a:r>
              <a:rPr lang="en-US" dirty="0">
                <a:latin typeface="Times New Roman" panose="02020603050405020304" pitchFamily="18" charset="0"/>
                <a:cs typeface="Times New Roman" panose="02020603050405020304" pitchFamily="18" charset="0"/>
              </a:rPr>
              <a:t> that cannot adapt to new fake news patterns </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Lack of </a:t>
            </a:r>
            <a:r>
              <a:rPr lang="en-US" b="1" dirty="0">
                <a:latin typeface="Times New Roman" panose="02020603050405020304" pitchFamily="18" charset="0"/>
                <a:cs typeface="Times New Roman" panose="02020603050405020304" pitchFamily="18" charset="0"/>
              </a:rPr>
              <a:t>real-time verification</a:t>
            </a:r>
            <a:r>
              <a:rPr lang="en-US" dirty="0">
                <a:latin typeface="Times New Roman" panose="02020603050405020304" pitchFamily="18" charset="0"/>
                <a:cs typeface="Times New Roman" panose="02020603050405020304" pitchFamily="18" charset="0"/>
              </a:rPr>
              <a:t> using live news sources </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Limited use of </a:t>
            </a:r>
            <a:r>
              <a:rPr lang="en-US" b="1" dirty="0">
                <a:latin typeface="Times New Roman" panose="02020603050405020304" pitchFamily="18" charset="0"/>
                <a:cs typeface="Times New Roman" panose="02020603050405020304" pitchFamily="18" charset="0"/>
              </a:rPr>
              <a:t>user behavior features</a:t>
            </a:r>
            <a:r>
              <a:rPr lang="en-US" dirty="0">
                <a:latin typeface="Times New Roman" panose="02020603050405020304" pitchFamily="18" charset="0"/>
                <a:cs typeface="Times New Roman" panose="02020603050405020304" pitchFamily="18" charset="0"/>
              </a:rPr>
              <a:t> for better detection </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Some models act as </a:t>
            </a:r>
            <a:r>
              <a:rPr lang="en-US" b="1" dirty="0">
                <a:latin typeface="Times New Roman" panose="02020603050405020304" pitchFamily="18" charset="0"/>
                <a:cs typeface="Times New Roman" panose="02020603050405020304" pitchFamily="18" charset="0"/>
              </a:rPr>
              <a:t>black-box</a:t>
            </a:r>
            <a:r>
              <a:rPr lang="en-US" dirty="0">
                <a:latin typeface="Times New Roman" panose="02020603050405020304" pitchFamily="18" charset="0"/>
                <a:cs typeface="Times New Roman" panose="02020603050405020304" pitchFamily="18" charset="0"/>
              </a:rPr>
              <a:t>, reducing explainability </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Performance may decrease on </a:t>
            </a:r>
            <a:r>
              <a:rPr lang="en-US" b="1" dirty="0">
                <a:latin typeface="Times New Roman" panose="02020603050405020304" pitchFamily="18" charset="0"/>
                <a:cs typeface="Times New Roman" panose="02020603050405020304" pitchFamily="18" charset="0"/>
              </a:rPr>
              <a:t>real-world dynamic data</a:t>
            </a:r>
            <a:r>
              <a:rPr lang="en-US" dirty="0">
                <a:latin typeface="Times New Roman" panose="02020603050405020304" pitchFamily="18" charset="0"/>
                <a:cs typeface="Times New Roman" panose="02020603050405020304" pitchFamily="18" charset="0"/>
              </a:rPr>
              <a:t> </a:t>
            </a:r>
            <a:endParaRPr lang="en-US"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latin typeface="Times New Roman" panose="02020603050405020304" pitchFamily="18" charset="0"/>
                <a:cs typeface="Times New Roman" panose="02020603050405020304" pitchFamily="18" charset="0"/>
              </a:rPr>
              <a:t>Proposed System:</a:t>
            </a:r>
            <a:br>
              <a:rPr lang="en-IN" b="1" dirty="0">
                <a:latin typeface="Times New Roman" panose="02020603050405020304" pitchFamily="18" charset="0"/>
                <a:cs typeface="Times New Roman" panose="02020603050405020304" pitchFamily="18" charset="0"/>
              </a:rPr>
            </a:br>
            <a:endParaRPr lang="en-IN"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208344" y="1250066"/>
            <a:ext cx="11145456" cy="4926897"/>
          </a:xfrm>
        </p:spPr>
        <p:txBody>
          <a:bodyPr>
            <a:normAutofit fontScale="85000" lnSpcReduction="20000"/>
          </a:bodyPr>
          <a:lstStyle/>
          <a:p>
            <a:r>
              <a:rPr lang="en-IN" b="1" dirty="0"/>
              <a:t>System Name:</a:t>
            </a:r>
            <a:r>
              <a:rPr lang="en-IN" dirty="0"/>
              <a:t> </a:t>
            </a:r>
            <a:r>
              <a:rPr lang="en-IN" dirty="0" err="1"/>
              <a:t>FakeGuard</a:t>
            </a:r>
            <a:r>
              <a:rPr lang="en-IN" dirty="0"/>
              <a:t> – Hybrid AI-Based Fake News Detection</a:t>
            </a:r>
            <a:endParaRPr lang="en-IN" dirty="0"/>
          </a:p>
          <a:p>
            <a:r>
              <a:rPr lang="en-IN" b="1" dirty="0"/>
              <a:t>Approach:</a:t>
            </a:r>
            <a:endParaRPr lang="en-IN" dirty="0"/>
          </a:p>
          <a:p>
            <a:r>
              <a:rPr lang="en-IN" dirty="0"/>
              <a:t>Combines </a:t>
            </a:r>
            <a:r>
              <a:rPr lang="en-IN" b="1" dirty="0"/>
              <a:t>Machine Learning + Large Language Models + Real-time APIs</a:t>
            </a:r>
            <a:r>
              <a:rPr lang="en-IN" dirty="0"/>
              <a:t> </a:t>
            </a:r>
            <a:endParaRPr lang="en-IN" dirty="0"/>
          </a:p>
          <a:p>
            <a:r>
              <a:rPr lang="en-IN" dirty="0"/>
              <a:t>Uses </a:t>
            </a:r>
            <a:r>
              <a:rPr lang="en-IN" b="1" dirty="0"/>
              <a:t>BERT (Bidirectional Encoder Representations from Transformers)</a:t>
            </a:r>
            <a:r>
              <a:rPr lang="en-IN" dirty="0"/>
              <a:t> for text classification </a:t>
            </a:r>
            <a:endParaRPr lang="en-IN" dirty="0"/>
          </a:p>
          <a:p>
            <a:r>
              <a:rPr lang="en-IN" dirty="0"/>
              <a:t>Uses </a:t>
            </a:r>
            <a:r>
              <a:rPr lang="en-IN" b="1" dirty="0"/>
              <a:t>Gemini 2.5 Flash (LLM)</a:t>
            </a:r>
            <a:r>
              <a:rPr lang="en-IN" dirty="0"/>
              <a:t> for contextual understanding and reasoning </a:t>
            </a:r>
            <a:endParaRPr lang="en-IN" dirty="0"/>
          </a:p>
          <a:p>
            <a:r>
              <a:rPr lang="en-IN" dirty="0"/>
              <a:t>Integrates </a:t>
            </a:r>
            <a:r>
              <a:rPr lang="en-IN" b="1" dirty="0" err="1"/>
              <a:t>NewsAPI</a:t>
            </a:r>
            <a:r>
              <a:rPr lang="en-IN" b="1" dirty="0"/>
              <a:t> &amp; </a:t>
            </a:r>
            <a:r>
              <a:rPr lang="en-IN" b="1" dirty="0" err="1"/>
              <a:t>GNews</a:t>
            </a:r>
            <a:r>
              <a:rPr lang="en-IN" dirty="0"/>
              <a:t> for real-time news verification </a:t>
            </a:r>
            <a:endParaRPr lang="en-IN" dirty="0"/>
          </a:p>
          <a:p>
            <a:r>
              <a:rPr lang="en-IN" b="1" dirty="0"/>
              <a:t>Key Features:</a:t>
            </a:r>
            <a:endParaRPr lang="en-IN" dirty="0"/>
          </a:p>
          <a:p>
            <a:r>
              <a:rPr lang="en-IN" dirty="0"/>
              <a:t>Hybrid model for </a:t>
            </a:r>
            <a:r>
              <a:rPr lang="en-IN" b="1" dirty="0"/>
              <a:t>high accuracy and scalability</a:t>
            </a:r>
            <a:r>
              <a:rPr lang="en-IN" dirty="0"/>
              <a:t> </a:t>
            </a:r>
            <a:endParaRPr lang="en-IN" dirty="0"/>
          </a:p>
          <a:p>
            <a:r>
              <a:rPr lang="en-IN" dirty="0"/>
              <a:t>Captures both </a:t>
            </a:r>
            <a:r>
              <a:rPr lang="en-IN" b="1" dirty="0"/>
              <a:t>text content and contextual meaning</a:t>
            </a:r>
            <a:r>
              <a:rPr lang="en-IN" dirty="0"/>
              <a:t> </a:t>
            </a:r>
            <a:endParaRPr lang="en-IN" dirty="0"/>
          </a:p>
          <a:p>
            <a:r>
              <a:rPr lang="en-IN" dirty="0"/>
              <a:t>Performs </a:t>
            </a:r>
            <a:r>
              <a:rPr lang="en-IN" b="1" dirty="0"/>
              <a:t>real-time fact verification</a:t>
            </a:r>
            <a:r>
              <a:rPr lang="en-IN" dirty="0"/>
              <a:t> </a:t>
            </a:r>
            <a:endParaRPr lang="en-IN" dirty="0"/>
          </a:p>
          <a:p>
            <a:r>
              <a:rPr lang="en-IN" dirty="0"/>
              <a:t>Provides </a:t>
            </a:r>
            <a:r>
              <a:rPr lang="en-IN" b="1" dirty="0"/>
              <a:t>explainable results</a:t>
            </a:r>
            <a:r>
              <a:rPr lang="en-IN" dirty="0"/>
              <a:t> </a:t>
            </a:r>
            <a:endParaRPr lang="en-IN" dirty="0"/>
          </a:p>
          <a:p>
            <a:r>
              <a:rPr lang="en-IN" dirty="0"/>
              <a:t>Uses </a:t>
            </a:r>
            <a:r>
              <a:rPr lang="en-IN" b="1" dirty="0"/>
              <a:t>fallback mechanism</a:t>
            </a:r>
            <a:r>
              <a:rPr lang="en-IN" dirty="0"/>
              <a:t> for reliability</a:t>
            </a:r>
            <a:endParaRPr lang="en-IN" dirty="0"/>
          </a:p>
          <a:p>
            <a:endParaRPr lang="en-IN"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1" name="Rectangle 20"/>
          <p:cNvSpPr>
            <a:spLocks noGrp="1" noRot="1" noChangeAspect="1" noMove="1" noResize="1" noEditPoints="1" noAdjustHandles="1" noChangeArrowheads="1" noChangeShapeType="1" noTextEdit="1"/>
          </p:cNvSpPr>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474345" y="0"/>
            <a:ext cx="9768840" cy="1157605"/>
          </a:xfrm>
        </p:spPr>
        <p:txBody>
          <a:bodyPr vert="horz" lIns="91440" tIns="45720" rIns="91440" bIns="45720" rtlCol="0" anchor="ctr">
            <a:normAutofit fontScale="90000"/>
          </a:bodyPr>
          <a:lstStyle/>
          <a:p>
            <a:br>
              <a:rPr lang="en-US" sz="3200" b="1" dirty="0">
                <a:latin typeface="Times New Roman" panose="02020603050405020304" pitchFamily="18" charset="0"/>
                <a:cs typeface="Times New Roman" panose="02020603050405020304" pitchFamily="18" charset="0"/>
              </a:rPr>
            </a:br>
            <a:r>
              <a:rPr lang="en-US" sz="3200" b="1" dirty="0">
                <a:latin typeface="Times New Roman" panose="02020603050405020304" pitchFamily="18" charset="0"/>
                <a:cs typeface="Times New Roman" panose="02020603050405020304" pitchFamily="18" charset="0"/>
              </a:rPr>
              <a:t>Methodology:</a:t>
            </a:r>
            <a:br>
              <a:rPr lang="en-US" sz="3200" b="1" dirty="0">
                <a:latin typeface="Times New Roman" panose="02020603050405020304" pitchFamily="18" charset="0"/>
                <a:cs typeface="Times New Roman" panose="02020603050405020304" pitchFamily="18" charset="0"/>
              </a:rPr>
            </a:br>
            <a:endParaRPr lang="en-US" sz="3200" kern="1200" dirty="0">
              <a:solidFill>
                <a:schemeClr val="tx1"/>
              </a:solidFill>
              <a:latin typeface="Times New Roman" panose="02020603050405020304" pitchFamily="18" charset="0"/>
              <a:cs typeface="Times New Roman" panose="02020603050405020304" pitchFamily="18" charset="0"/>
            </a:endParaRPr>
          </a:p>
        </p:txBody>
      </p:sp>
      <p:pic>
        <p:nvPicPr>
          <p:cNvPr id="26" name="Image 26"/>
          <p:cNvPicPr>
            <a:picLocks noChangeAspect="1"/>
          </p:cNvPicPr>
          <p:nvPr>
            <p:ph idx="1"/>
          </p:nvPr>
        </p:nvPicPr>
        <p:blipFill>
          <a:blip r:embed="rId1" cstate="print"/>
          <a:stretch>
            <a:fillRect/>
          </a:stretch>
        </p:blipFill>
        <p:spPr>
          <a:xfrm>
            <a:off x="977900" y="1156970"/>
            <a:ext cx="10027285" cy="521462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200" y="539750"/>
            <a:ext cx="10515600" cy="758825"/>
          </a:xfrm>
        </p:spPr>
        <p:txBody>
          <a:bodyPr>
            <a:normAutofit/>
          </a:bodyPr>
          <a:p>
            <a:r>
              <a:rPr lang="en-US" sz="3200" b="1" dirty="0">
                <a:latin typeface="Times New Roman" panose="02020603050405020304" pitchFamily="18" charset="0"/>
                <a:cs typeface="Times New Roman" panose="02020603050405020304" pitchFamily="18" charset="0"/>
                <a:sym typeface="+mn-ea"/>
              </a:rPr>
              <a:t>Methodology:</a:t>
            </a:r>
            <a:endParaRPr lang="en-GB" altLang="en-US" sz="3200"/>
          </a:p>
        </p:txBody>
      </p:sp>
      <p:sp>
        <p:nvSpPr>
          <p:cNvPr id="3" name="Content Placeholder 2"/>
          <p:cNvSpPr>
            <a:spLocks noGrp="1"/>
          </p:cNvSpPr>
          <p:nvPr>
            <p:ph idx="1"/>
          </p:nvPr>
        </p:nvSpPr>
        <p:spPr>
          <a:xfrm>
            <a:off x="838200" y="1297940"/>
            <a:ext cx="10515600" cy="5343525"/>
          </a:xfrm>
        </p:spPr>
        <p:txBody>
          <a:bodyPr>
            <a:normAutofit/>
          </a:bodyPr>
          <a:p>
            <a:pPr>
              <a:lnSpc>
                <a:spcPct val="100000"/>
              </a:lnSpc>
            </a:pPr>
            <a:r>
              <a:rPr lang="en-US" altLang="en-GB" sz="2400">
                <a:latin typeface="Times New Roman" panose="02020603050405020304" pitchFamily="18" charset="0"/>
                <a:cs typeface="Times New Roman" panose="02020603050405020304" pitchFamily="18" charset="0"/>
              </a:rPr>
              <a:t>The system follows a multi-stage deep learning pipeline for fake news detection.</a:t>
            </a:r>
            <a:endParaRPr lang="en-US" altLang="en-GB" sz="2400">
              <a:latin typeface="Times New Roman" panose="02020603050405020304" pitchFamily="18" charset="0"/>
              <a:cs typeface="Times New Roman" panose="02020603050405020304" pitchFamily="18" charset="0"/>
            </a:endParaRPr>
          </a:p>
          <a:p>
            <a:pPr marL="0" indent="0">
              <a:lnSpc>
                <a:spcPct val="100000"/>
              </a:lnSpc>
              <a:buNone/>
            </a:pPr>
            <a:r>
              <a:rPr lang="en-US" altLang="en-GB" sz="2400" b="1">
                <a:latin typeface="Times New Roman" panose="02020603050405020304" pitchFamily="18" charset="0"/>
                <a:cs typeface="Times New Roman" panose="02020603050405020304" pitchFamily="18" charset="0"/>
              </a:rPr>
              <a:t>Input Data: </a:t>
            </a:r>
            <a:r>
              <a:rPr lang="en-US" altLang="en-GB" sz="2400">
                <a:latin typeface="Times New Roman" panose="02020603050405020304" pitchFamily="18" charset="0"/>
                <a:cs typeface="Times New Roman" panose="02020603050405020304" pitchFamily="18" charset="0"/>
              </a:rPr>
              <a:t>News articles, headlines, and user comments are collected from datasets.</a:t>
            </a:r>
            <a:endParaRPr lang="en-US" altLang="en-GB" sz="2400">
              <a:latin typeface="Times New Roman" panose="02020603050405020304" pitchFamily="18" charset="0"/>
              <a:cs typeface="Times New Roman" panose="02020603050405020304" pitchFamily="18" charset="0"/>
            </a:endParaRPr>
          </a:p>
          <a:p>
            <a:pPr marL="0" indent="0">
              <a:lnSpc>
                <a:spcPct val="100000"/>
              </a:lnSpc>
              <a:buNone/>
            </a:pPr>
            <a:r>
              <a:rPr lang="en-US" altLang="en-GB" sz="2400" b="1">
                <a:latin typeface="Times New Roman" panose="02020603050405020304" pitchFamily="18" charset="0"/>
                <a:cs typeface="Times New Roman" panose="02020603050405020304" pitchFamily="18" charset="0"/>
              </a:rPr>
              <a:t>Data Preprocessing:</a:t>
            </a:r>
            <a:endParaRPr lang="en-US" altLang="en-GB" sz="2400">
              <a:latin typeface="Times New Roman" panose="02020603050405020304" pitchFamily="18" charset="0"/>
              <a:cs typeface="Times New Roman" panose="02020603050405020304" pitchFamily="18" charset="0"/>
            </a:endParaRPr>
          </a:p>
          <a:p>
            <a:pPr>
              <a:lnSpc>
                <a:spcPct val="100000"/>
              </a:lnSpc>
            </a:pPr>
            <a:r>
              <a:rPr lang="en-US" altLang="en-GB" sz="2400">
                <a:latin typeface="Times New Roman" panose="02020603050405020304" pitchFamily="18" charset="0"/>
                <a:cs typeface="Times New Roman" panose="02020603050405020304" pitchFamily="18" charset="0"/>
              </a:rPr>
              <a:t>Text cleaning (removal of stopwords, punctuation, noise)</a:t>
            </a:r>
            <a:endParaRPr lang="en-US" altLang="en-GB" sz="2400">
              <a:latin typeface="Times New Roman" panose="02020603050405020304" pitchFamily="18" charset="0"/>
              <a:cs typeface="Times New Roman" panose="02020603050405020304" pitchFamily="18" charset="0"/>
            </a:endParaRPr>
          </a:p>
          <a:p>
            <a:pPr>
              <a:lnSpc>
                <a:spcPct val="100000"/>
              </a:lnSpc>
            </a:pPr>
            <a:r>
              <a:rPr lang="en-US" altLang="en-GB" sz="2400">
                <a:latin typeface="Times New Roman" panose="02020603050405020304" pitchFamily="18" charset="0"/>
                <a:cs typeface="Times New Roman" panose="02020603050405020304" pitchFamily="18" charset="0"/>
              </a:rPr>
              <a:t>Tokenization and normalization</a:t>
            </a:r>
            <a:endParaRPr lang="en-US" altLang="en-GB" sz="2400">
              <a:latin typeface="Times New Roman" panose="02020603050405020304" pitchFamily="18" charset="0"/>
              <a:cs typeface="Times New Roman" panose="02020603050405020304" pitchFamily="18" charset="0"/>
            </a:endParaRPr>
          </a:p>
          <a:p>
            <a:pPr marL="0" indent="0">
              <a:lnSpc>
                <a:spcPct val="100000"/>
              </a:lnSpc>
              <a:buNone/>
            </a:pPr>
            <a:r>
              <a:rPr lang="en-US" altLang="en-GB" sz="2400" b="1">
                <a:latin typeface="Times New Roman" panose="02020603050405020304" pitchFamily="18" charset="0"/>
                <a:cs typeface="Times New Roman" panose="02020603050405020304" pitchFamily="18" charset="0"/>
              </a:rPr>
              <a:t>Feature Extraction:</a:t>
            </a:r>
            <a:endParaRPr lang="en-US" altLang="en-GB" sz="2400" b="1">
              <a:latin typeface="Times New Roman" panose="02020603050405020304" pitchFamily="18" charset="0"/>
              <a:cs typeface="Times New Roman" panose="02020603050405020304" pitchFamily="18" charset="0"/>
            </a:endParaRPr>
          </a:p>
          <a:p>
            <a:pPr>
              <a:lnSpc>
                <a:spcPct val="100000"/>
              </a:lnSpc>
            </a:pPr>
            <a:r>
              <a:rPr lang="en-US" altLang="en-GB" sz="2400">
                <a:latin typeface="Times New Roman" panose="02020603050405020304" pitchFamily="18" charset="0"/>
                <a:cs typeface="Times New Roman" panose="02020603050405020304" pitchFamily="18" charset="0"/>
              </a:rPr>
              <a:t>Semantic features extracted using BERT embeddings</a:t>
            </a:r>
            <a:endParaRPr lang="en-US" altLang="en-GB" sz="2400">
              <a:latin typeface="Times New Roman" panose="02020603050405020304" pitchFamily="18" charset="0"/>
              <a:cs typeface="Times New Roman" panose="02020603050405020304" pitchFamily="18" charset="0"/>
            </a:endParaRPr>
          </a:p>
          <a:p>
            <a:pPr>
              <a:lnSpc>
                <a:spcPct val="100000"/>
              </a:lnSpc>
            </a:pPr>
            <a:r>
              <a:rPr lang="en-US" altLang="en-GB" sz="2400">
                <a:latin typeface="Times New Roman" panose="02020603050405020304" pitchFamily="18" charset="0"/>
                <a:cs typeface="Times New Roman" panose="02020603050405020304" pitchFamily="18" charset="0"/>
              </a:rPr>
              <a:t>Contextual relationships captured across content components</a:t>
            </a:r>
            <a:endParaRPr lang="en-US" altLang="en-GB" sz="2400">
              <a:latin typeface="Times New Roman" panose="02020603050405020304" pitchFamily="18" charset="0"/>
              <a:cs typeface="Times New Roman" panose="02020603050405020304" pitchFamily="18" charset="0"/>
            </a:endParaRPr>
          </a:p>
          <a:p>
            <a:pPr>
              <a:lnSpc>
                <a:spcPct val="100000"/>
              </a:lnSpc>
            </a:pPr>
            <a:r>
              <a:rPr lang="en-US" altLang="en-GB" sz="2400">
                <a:latin typeface="Times New Roman" panose="02020603050405020304" pitchFamily="18" charset="0"/>
                <a:cs typeface="Times New Roman" panose="02020603050405020304" pitchFamily="18" charset="0"/>
              </a:rPr>
              <a:t>Behavioral Features:</a:t>
            </a:r>
            <a:endParaRPr lang="en-US" altLang="en-GB" sz="2400">
              <a:latin typeface="Times New Roman" panose="02020603050405020304" pitchFamily="18" charset="0"/>
              <a:cs typeface="Times New Roman" panose="02020603050405020304" pitchFamily="18" charset="0"/>
            </a:endParaRPr>
          </a:p>
          <a:p>
            <a:pPr>
              <a:lnSpc>
                <a:spcPct val="100000"/>
              </a:lnSpc>
            </a:pPr>
            <a:r>
              <a:rPr lang="en-US" altLang="en-GB" sz="2400">
                <a:latin typeface="Times New Roman" panose="02020603050405020304" pitchFamily="18" charset="0"/>
                <a:cs typeface="Times New Roman" panose="02020603050405020304" pitchFamily="18" charset="0"/>
              </a:rPr>
              <a:t>User posting patterns and engagement signals are incorporated</a:t>
            </a:r>
            <a:endParaRPr lang="en-US" altLang="en-GB" sz="2400">
              <a:latin typeface="Times New Roman" panose="02020603050405020304" pitchFamily="18" charset="0"/>
              <a:cs typeface="Times New Roman" panose="02020603050405020304" pitchFamily="18"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200" y="365125"/>
            <a:ext cx="10515600" cy="1028700"/>
          </a:xfrm>
        </p:spPr>
        <p:txBody>
          <a:bodyPr>
            <a:normAutofit fontScale="90000"/>
          </a:bodyPr>
          <a:p>
            <a:br>
              <a:rPr lang="en-US" altLang="en-GB"/>
            </a:br>
            <a:r>
              <a:rPr lang="en-US" altLang="en-GB"/>
              <a:t>Methodology:</a:t>
            </a:r>
            <a:br>
              <a:rPr lang="en-US" altLang="en-GB"/>
            </a:br>
            <a:endParaRPr lang="en-US" altLang="en-GB"/>
          </a:p>
        </p:txBody>
      </p:sp>
      <p:sp>
        <p:nvSpPr>
          <p:cNvPr id="3" name="Content Placeholder 2"/>
          <p:cNvSpPr>
            <a:spLocks noGrp="1"/>
          </p:cNvSpPr>
          <p:nvPr>
            <p:ph idx="1"/>
          </p:nvPr>
        </p:nvSpPr>
        <p:spPr>
          <a:xfrm>
            <a:off x="838200" y="1256665"/>
            <a:ext cx="10515600" cy="5447665"/>
          </a:xfrm>
        </p:spPr>
        <p:txBody>
          <a:bodyPr>
            <a:normAutofit lnSpcReduction="10000"/>
          </a:bodyPr>
          <a:p>
            <a:pPr marL="0" indent="0" algn="just">
              <a:lnSpc>
                <a:spcPct val="100000"/>
              </a:lnSpc>
              <a:buNone/>
            </a:pPr>
            <a:r>
              <a:rPr lang="en-US" altLang="en-GB" sz="2400" b="1">
                <a:latin typeface="Times New Roman" panose="02020603050405020304" pitchFamily="18" charset="0"/>
                <a:cs typeface="Times New Roman" panose="02020603050405020304" pitchFamily="18" charset="0"/>
              </a:rPr>
              <a:t>Model Architecture</a:t>
            </a:r>
            <a:r>
              <a:rPr lang="en-US" altLang="en-GB" sz="2400">
                <a:latin typeface="Times New Roman" panose="02020603050405020304" pitchFamily="18" charset="0"/>
                <a:cs typeface="Times New Roman" panose="02020603050405020304" pitchFamily="18" charset="0"/>
              </a:rPr>
              <a:t>:</a:t>
            </a:r>
            <a:endParaRPr lang="en-US" altLang="en-GB" sz="2400">
              <a:latin typeface="Times New Roman" panose="02020603050405020304" pitchFamily="18" charset="0"/>
              <a:cs typeface="Times New Roman" panose="02020603050405020304" pitchFamily="18" charset="0"/>
            </a:endParaRPr>
          </a:p>
          <a:p>
            <a:pPr algn="just">
              <a:lnSpc>
                <a:spcPct val="100000"/>
              </a:lnSpc>
            </a:pPr>
            <a:r>
              <a:rPr lang="en-US" altLang="en-GB" sz="2400">
                <a:latin typeface="Times New Roman" panose="02020603050405020304" pitchFamily="18" charset="0"/>
                <a:cs typeface="Times New Roman" panose="02020603050405020304" pitchFamily="18" charset="0"/>
              </a:rPr>
              <a:t>BERT-based encoder for deep contextual understanding</a:t>
            </a:r>
            <a:endParaRPr lang="en-US" altLang="en-GB" sz="2400">
              <a:latin typeface="Times New Roman" panose="02020603050405020304" pitchFamily="18" charset="0"/>
              <a:cs typeface="Times New Roman" panose="02020603050405020304" pitchFamily="18" charset="0"/>
            </a:endParaRPr>
          </a:p>
          <a:p>
            <a:pPr algn="just">
              <a:lnSpc>
                <a:spcPct val="100000"/>
              </a:lnSpc>
            </a:pPr>
            <a:r>
              <a:rPr lang="en-US" altLang="en-GB" sz="2400">
                <a:latin typeface="Times New Roman" panose="02020603050405020304" pitchFamily="18" charset="0"/>
                <a:cs typeface="Times New Roman" panose="02020603050405020304" pitchFamily="18" charset="0"/>
              </a:rPr>
              <a:t>Attention mechanism to focus on important text segments</a:t>
            </a:r>
            <a:endParaRPr lang="en-US" altLang="en-GB" sz="2400">
              <a:latin typeface="Times New Roman" panose="02020603050405020304" pitchFamily="18" charset="0"/>
              <a:cs typeface="Times New Roman" panose="02020603050405020304" pitchFamily="18" charset="0"/>
            </a:endParaRPr>
          </a:p>
          <a:p>
            <a:pPr marL="0" indent="0" algn="just">
              <a:lnSpc>
                <a:spcPct val="100000"/>
              </a:lnSpc>
              <a:buNone/>
            </a:pPr>
            <a:r>
              <a:rPr lang="en-US" altLang="en-GB" sz="2400" b="1">
                <a:latin typeface="Times New Roman" panose="02020603050405020304" pitchFamily="18" charset="0"/>
                <a:cs typeface="Times New Roman" panose="02020603050405020304" pitchFamily="18" charset="0"/>
              </a:rPr>
              <a:t>Feature Fusion:</a:t>
            </a:r>
            <a:endParaRPr lang="en-US" altLang="en-GB" sz="2400" b="1">
              <a:latin typeface="Times New Roman" panose="02020603050405020304" pitchFamily="18" charset="0"/>
              <a:cs typeface="Times New Roman" panose="02020603050405020304" pitchFamily="18" charset="0"/>
            </a:endParaRPr>
          </a:p>
          <a:p>
            <a:pPr algn="just">
              <a:lnSpc>
                <a:spcPct val="100000"/>
              </a:lnSpc>
            </a:pPr>
            <a:r>
              <a:rPr lang="en-US" altLang="en-GB" sz="2400">
                <a:latin typeface="Times New Roman" panose="02020603050405020304" pitchFamily="18" charset="0"/>
                <a:cs typeface="Times New Roman" panose="02020603050405020304" pitchFamily="18" charset="0"/>
              </a:rPr>
              <a:t>Combines content features + user behavior features</a:t>
            </a:r>
            <a:endParaRPr lang="en-US" altLang="en-GB" sz="2400">
              <a:latin typeface="Times New Roman" panose="02020603050405020304" pitchFamily="18" charset="0"/>
              <a:cs typeface="Times New Roman" panose="02020603050405020304" pitchFamily="18" charset="0"/>
            </a:endParaRPr>
          </a:p>
          <a:p>
            <a:pPr algn="just">
              <a:lnSpc>
                <a:spcPct val="100000"/>
              </a:lnSpc>
            </a:pPr>
            <a:r>
              <a:rPr lang="en-US" altLang="en-GB" sz="2400">
                <a:latin typeface="Times New Roman" panose="02020603050405020304" pitchFamily="18" charset="0"/>
                <a:cs typeface="Times New Roman" panose="02020603050405020304" pitchFamily="18" charset="0"/>
              </a:rPr>
              <a:t>Classification Layer:</a:t>
            </a:r>
            <a:endParaRPr lang="en-US" altLang="en-GB" sz="2400">
              <a:latin typeface="Times New Roman" panose="02020603050405020304" pitchFamily="18" charset="0"/>
              <a:cs typeface="Times New Roman" panose="02020603050405020304" pitchFamily="18" charset="0"/>
            </a:endParaRPr>
          </a:p>
          <a:p>
            <a:pPr algn="just">
              <a:lnSpc>
                <a:spcPct val="100000"/>
              </a:lnSpc>
            </a:pPr>
            <a:r>
              <a:rPr lang="en-US" altLang="en-GB" sz="2400">
                <a:latin typeface="Times New Roman" panose="02020603050405020304" pitchFamily="18" charset="0"/>
                <a:cs typeface="Times New Roman" panose="02020603050405020304" pitchFamily="18" charset="0"/>
              </a:rPr>
              <a:t>Fully connected layers classify news as Fake or Real</a:t>
            </a:r>
            <a:endParaRPr lang="en-US" altLang="en-GB" sz="2400">
              <a:latin typeface="Times New Roman" panose="02020603050405020304" pitchFamily="18" charset="0"/>
              <a:cs typeface="Times New Roman" panose="02020603050405020304" pitchFamily="18" charset="0"/>
            </a:endParaRPr>
          </a:p>
          <a:p>
            <a:pPr marL="0" indent="0" algn="just">
              <a:lnSpc>
                <a:spcPct val="100000"/>
              </a:lnSpc>
              <a:buNone/>
            </a:pPr>
            <a:r>
              <a:rPr lang="en-US" altLang="en-GB" sz="2400" b="1">
                <a:latin typeface="Times New Roman" panose="02020603050405020304" pitchFamily="18" charset="0"/>
                <a:cs typeface="Times New Roman" panose="02020603050405020304" pitchFamily="18" charset="0"/>
              </a:rPr>
              <a:t>Output:</a:t>
            </a:r>
            <a:endParaRPr lang="en-US" altLang="en-GB" sz="2400" b="1">
              <a:latin typeface="Times New Roman" panose="02020603050405020304" pitchFamily="18" charset="0"/>
              <a:cs typeface="Times New Roman" panose="02020603050405020304" pitchFamily="18" charset="0"/>
            </a:endParaRPr>
          </a:p>
          <a:p>
            <a:pPr algn="just">
              <a:lnSpc>
                <a:spcPct val="100000"/>
              </a:lnSpc>
            </a:pPr>
            <a:r>
              <a:rPr lang="en-US" altLang="en-GB" sz="2400">
                <a:latin typeface="Times New Roman" panose="02020603050405020304" pitchFamily="18" charset="0"/>
                <a:cs typeface="Times New Roman" panose="02020603050405020304" pitchFamily="18" charset="0"/>
              </a:rPr>
              <a:t>Final prediction with improved accuracy and reliability</a:t>
            </a:r>
            <a:endParaRPr lang="en-US" altLang="en-GB" sz="2400">
              <a:latin typeface="Times New Roman" panose="02020603050405020304" pitchFamily="18" charset="0"/>
              <a:cs typeface="Times New Roman" panose="02020603050405020304" pitchFamily="18" charset="0"/>
            </a:endParaRPr>
          </a:p>
          <a:p>
            <a:pPr algn="just">
              <a:lnSpc>
                <a:spcPct val="100000"/>
              </a:lnSpc>
            </a:pPr>
            <a:r>
              <a:rPr lang="en-US" altLang="en-GB" sz="2400">
                <a:latin typeface="Times New Roman" panose="02020603050405020304" pitchFamily="18" charset="0"/>
                <a:cs typeface="Times New Roman" panose="02020603050405020304" pitchFamily="18" charset="0"/>
              </a:rPr>
              <a:t>Evaluation:</a:t>
            </a:r>
            <a:endParaRPr lang="en-US" altLang="en-GB" sz="2400">
              <a:latin typeface="Times New Roman" panose="02020603050405020304" pitchFamily="18" charset="0"/>
              <a:cs typeface="Times New Roman" panose="02020603050405020304" pitchFamily="18" charset="0"/>
            </a:endParaRPr>
          </a:p>
          <a:p>
            <a:pPr algn="just">
              <a:lnSpc>
                <a:spcPct val="100000"/>
              </a:lnSpc>
            </a:pPr>
            <a:r>
              <a:rPr lang="en-US" altLang="en-GB" sz="2400">
                <a:latin typeface="Times New Roman" panose="02020603050405020304" pitchFamily="18" charset="0"/>
                <a:cs typeface="Times New Roman" panose="02020603050405020304" pitchFamily="18" charset="0"/>
              </a:rPr>
              <a:t>Performance measured using accuracy, precision, recall, and F1-score</a:t>
            </a:r>
            <a:endParaRPr lang="en-US" altLang="en-GB" sz="2400">
              <a:latin typeface="Times New Roman" panose="02020603050405020304" pitchFamily="18" charset="0"/>
              <a:cs typeface="Times New Roman" panose="02020603050405020304" pitchFamily="18"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40055" y="148590"/>
            <a:ext cx="10913745" cy="808355"/>
          </a:xfrm>
        </p:spPr>
        <p:txBody>
          <a:bodyPr/>
          <a:lstStyle/>
          <a:p>
            <a:r>
              <a:rPr lang="en-US" b="1" dirty="0"/>
              <a:t>Implementation:</a:t>
            </a:r>
            <a:endParaRPr lang="en-IN" b="1" dirty="0"/>
          </a:p>
        </p:txBody>
      </p:sp>
      <p:sp>
        <p:nvSpPr>
          <p:cNvPr id="4" name="Rectangle 1"/>
          <p:cNvSpPr>
            <a:spLocks noGrp="1" noChangeArrowheads="1"/>
          </p:cNvSpPr>
          <p:nvPr>
            <p:ph idx="1"/>
          </p:nvPr>
        </p:nvSpPr>
        <p:spPr bwMode="auto">
          <a:xfrm>
            <a:off x="347345" y="956945"/>
            <a:ext cx="11006455" cy="59010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noAutofit/>
          </a:bodyPr>
          <a:lstStyle/>
          <a:p>
            <a:pPr marL="0" marR="0" lvl="0" indent="0" algn="l" defTabSz="914400" rtl="0" eaLnBrk="0" fontAlgn="base" latinLnBrk="0" hangingPunct="0">
              <a:lnSpc>
                <a:spcPct val="150000"/>
              </a:lnSpc>
              <a:spcBef>
                <a:spcPct val="0"/>
              </a:spcBef>
              <a:spcAft>
                <a:spcPct val="0"/>
              </a:spcAft>
              <a:buClrTx/>
              <a:buSzTx/>
              <a:buFontTx/>
              <a:buChar char="•"/>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Data Collection:</a:t>
            </a:r>
            <a:b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Collected news articles and social media content from datasets and APIs </a:t>
            </a: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50000"/>
              </a:lnSpc>
              <a:spcBef>
                <a:spcPct val="0"/>
              </a:spcBef>
              <a:spcAft>
                <a:spcPct val="0"/>
              </a:spcAft>
              <a:buClrTx/>
              <a:buSzTx/>
              <a:buFontTx/>
              <a:buChar char="•"/>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Backend Development:</a:t>
            </a:r>
            <a:b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Developed using </a:t>
            </a:r>
            <a:r>
              <a:rPr kumimoji="0" lang="en-US" altLang="en-US" sz="2000"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FastAPI</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(Python)</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for handling requests and processing </a:t>
            </a: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50000"/>
              </a:lnSpc>
              <a:spcBef>
                <a:spcPct val="0"/>
              </a:spcBef>
              <a:spcAft>
                <a:spcPct val="0"/>
              </a:spcAft>
              <a:buClrTx/>
              <a:buSzTx/>
              <a:buFontTx/>
              <a:buChar char="•"/>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Frontend Development:</a:t>
            </a:r>
            <a:b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Built using </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React.js and Tailwind CSS</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for user interface </a:t>
            </a: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50000"/>
              </a:lnSpc>
              <a:spcBef>
                <a:spcPct val="0"/>
              </a:spcBef>
              <a:spcAft>
                <a:spcPct val="0"/>
              </a:spcAft>
              <a:buClrTx/>
              <a:buSzTx/>
              <a:buFontTx/>
              <a:buChar char="•"/>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Model Integration:</a:t>
            </a:r>
            <a:b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Integrated </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BERT model</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for text classification</a:t>
            </a:r>
            <a:b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Integrated </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Gemini API</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for contextual analysis </a:t>
            </a: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50000"/>
              </a:lnSpc>
              <a:spcBef>
                <a:spcPct val="0"/>
              </a:spcBef>
              <a:spcAft>
                <a:spcPct val="0"/>
              </a:spcAft>
              <a:buClrTx/>
              <a:buSzTx/>
              <a:buFontTx/>
              <a:buChar char="•"/>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Real-time Verification:</a:t>
            </a:r>
            <a:b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Used </a:t>
            </a:r>
            <a:r>
              <a:rPr kumimoji="0" lang="en-US" altLang="en-US" sz="2000"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NewsAPI</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and </a:t>
            </a:r>
            <a:r>
              <a:rPr kumimoji="0" lang="en-US" altLang="en-US" sz="2000"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GNews</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APIs</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to fetch live news data </a:t>
            </a: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50000"/>
              </a:lnSpc>
              <a:spcBef>
                <a:spcPct val="0"/>
              </a:spcBef>
              <a:spcAft>
                <a:spcPct val="0"/>
              </a:spcAft>
              <a:buClrTx/>
              <a:buSzTx/>
              <a:buFontTx/>
              <a:buChar char="•"/>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System Deployment:</a:t>
            </a:r>
            <a:b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Deployed as a </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web-based application</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for real-time usage </a:t>
            </a: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Implementation (Working):</a:t>
            </a:r>
            <a:endParaRPr lang="en-IN" b="1" dirty="0">
              <a:latin typeface="Times New Roman" panose="02020603050405020304" pitchFamily="18" charset="0"/>
              <a:cs typeface="Times New Roman" panose="02020603050405020304" pitchFamily="18" charset="0"/>
            </a:endParaRPr>
          </a:p>
        </p:txBody>
      </p:sp>
      <p:sp>
        <p:nvSpPr>
          <p:cNvPr id="4" name="Rectangle 1"/>
          <p:cNvSpPr>
            <a:spLocks noGrp="1" noChangeArrowheads="1"/>
          </p:cNvSpPr>
          <p:nvPr>
            <p:ph idx="1"/>
          </p:nvPr>
        </p:nvSpPr>
        <p:spPr bwMode="auto">
          <a:xfrm>
            <a:off x="567159" y="1324324"/>
            <a:ext cx="6423949"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User enters news text or content </a:t>
            </a: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System processes input through models </a:t>
            </a: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Performs classification and verification </a:t>
            </a: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Displays result as </a:t>
            </a: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Fake or Real</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Shows confidence score and explanation </a:t>
            </a: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1" name="Rectangle 30"/>
          <p:cNvSpPr>
            <a:spLocks noGrp="1" noRot="1" noChangeAspect="1" noMove="1" noResize="1" noEditPoints="1" noAdjustHandles="1" noChangeArrowheads="1" noChangeShapeType="1" noTextEdit="1"/>
          </p:cNvSpPr>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38200" y="365125"/>
            <a:ext cx="10515600" cy="1860400"/>
          </a:xfrm>
        </p:spPr>
        <p:txBody>
          <a:bodyPr vert="horz" lIns="91440" tIns="45720" rIns="91440" bIns="45720" rtlCol="0" anchor="ctr">
            <a:normAutofit/>
          </a:bodyPr>
          <a:lstStyle/>
          <a:p>
            <a:r>
              <a:rPr lang="en-US" sz="3200" kern="1200" dirty="0">
                <a:solidFill>
                  <a:schemeClr val="tx1"/>
                </a:solidFill>
                <a:latin typeface="Times New Roman" panose="02020603050405020304" pitchFamily="18" charset="0"/>
                <a:cs typeface="Times New Roman" panose="02020603050405020304" pitchFamily="18" charset="0"/>
              </a:rPr>
              <a:t>RESULTS</a:t>
            </a:r>
            <a:r>
              <a:rPr lang="en-US" sz="5200" kern="1200" dirty="0">
                <a:solidFill>
                  <a:schemeClr val="tx1"/>
                </a:solidFill>
                <a:latin typeface="+mj-lt"/>
                <a:ea typeface="+mj-ea"/>
                <a:cs typeface="+mj-cs"/>
              </a:rPr>
              <a:t>:</a:t>
            </a:r>
            <a:endParaRPr lang="en-US" sz="5200" kern="1200" dirty="0">
              <a:solidFill>
                <a:schemeClr val="tx1"/>
              </a:solidFill>
              <a:latin typeface="+mj-lt"/>
              <a:ea typeface="+mj-ea"/>
              <a:cs typeface="+mj-cs"/>
            </a:endParaRPr>
          </a:p>
        </p:txBody>
      </p:sp>
      <p:pic>
        <p:nvPicPr>
          <p:cNvPr id="13" name="Content Placeholder 12"/>
          <p:cNvPicPr>
            <a:picLocks noGrp="1" noChangeAspect="1"/>
          </p:cNvPicPr>
          <p:nvPr>
            <p:ph idx="1"/>
          </p:nvPr>
        </p:nvPicPr>
        <p:blipFill>
          <a:blip r:embed="rId1"/>
          <a:stretch>
            <a:fillRect/>
          </a:stretch>
        </p:blipFill>
        <p:spPr>
          <a:xfrm>
            <a:off x="188533" y="2365285"/>
            <a:ext cx="5813662" cy="3938756"/>
          </a:xfrm>
          <a:prstGeom prst="rect">
            <a:avLst/>
          </a:prstGeom>
        </p:spPr>
      </p:pic>
      <p:pic>
        <p:nvPicPr>
          <p:cNvPr id="4" name="Picture 3"/>
          <p:cNvPicPr>
            <a:picLocks noChangeAspect="1"/>
          </p:cNvPicPr>
          <p:nvPr/>
        </p:nvPicPr>
        <p:blipFill>
          <a:blip r:embed="rId2"/>
          <a:stretch>
            <a:fillRect/>
          </a:stretch>
        </p:blipFill>
        <p:spPr>
          <a:xfrm>
            <a:off x="6182505" y="2520617"/>
            <a:ext cx="5828261" cy="3628092"/>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Rectangle 15"/>
          <p:cNvSpPr>
            <a:spLocks noGrp="1" noRot="1" noChangeAspect="1" noMove="1" noResize="1" noEditPoints="1" noAdjustHandles="1" noChangeArrowheads="1" noChangeShapeType="1" noTextEdit="1"/>
          </p:cNvSpPr>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p:cNvPicPr>
            <a:picLocks noGrp="1" noChangeAspect="1"/>
          </p:cNvPicPr>
          <p:nvPr>
            <p:ph idx="1"/>
          </p:nvPr>
        </p:nvPicPr>
        <p:blipFill>
          <a:blip r:embed="rId1"/>
          <a:stretch>
            <a:fillRect/>
          </a:stretch>
        </p:blipFill>
        <p:spPr>
          <a:xfrm>
            <a:off x="415939" y="2365285"/>
            <a:ext cx="5358851" cy="3938756"/>
          </a:xfrm>
          <a:prstGeom prst="rect">
            <a:avLst/>
          </a:prstGeom>
        </p:spPr>
      </p:pic>
      <p:pic>
        <p:nvPicPr>
          <p:cNvPr id="7" name="Picture 6"/>
          <p:cNvPicPr>
            <a:picLocks noChangeAspect="1"/>
          </p:cNvPicPr>
          <p:nvPr/>
        </p:nvPicPr>
        <p:blipFill>
          <a:blip r:embed="rId2"/>
          <a:stretch>
            <a:fillRect/>
          </a:stretch>
        </p:blipFill>
        <p:spPr>
          <a:xfrm>
            <a:off x="6313062" y="2365285"/>
            <a:ext cx="5567147" cy="3938756"/>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Rectangle 15"/>
          <p:cNvSpPr>
            <a:spLocks noGrp="1" noRot="1" noChangeAspect="1" noMove="1" noResize="1" noEditPoints="1" noAdjustHandles="1" noChangeArrowheads="1" noChangeShapeType="1" noTextEdit="1"/>
          </p:cNvSpPr>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38200" y="365125"/>
            <a:ext cx="10515600" cy="1860400"/>
          </a:xfrm>
        </p:spPr>
        <p:txBody>
          <a:bodyPr vert="horz" lIns="91440" tIns="45720" rIns="91440" bIns="45720" rtlCol="0" anchor="ctr">
            <a:normAutofit/>
          </a:bodyPr>
          <a:lstStyle/>
          <a:p>
            <a:endParaRPr lang="en-US" sz="5200" kern="1200">
              <a:solidFill>
                <a:schemeClr val="tx1"/>
              </a:solidFill>
              <a:latin typeface="+mj-lt"/>
              <a:ea typeface="+mj-ea"/>
              <a:cs typeface="+mj-cs"/>
            </a:endParaRPr>
          </a:p>
        </p:txBody>
      </p:sp>
      <p:pic>
        <p:nvPicPr>
          <p:cNvPr id="5" name="Content Placeholder 4"/>
          <p:cNvPicPr>
            <a:picLocks noGrp="1" noChangeAspect="1"/>
          </p:cNvPicPr>
          <p:nvPr>
            <p:ph idx="1"/>
          </p:nvPr>
        </p:nvPicPr>
        <p:blipFill>
          <a:blip r:embed="rId1"/>
          <a:stretch>
            <a:fillRect/>
          </a:stretch>
        </p:blipFill>
        <p:spPr>
          <a:xfrm>
            <a:off x="281967" y="2365285"/>
            <a:ext cx="5626795" cy="3938756"/>
          </a:xfrm>
          <a:prstGeom prst="rect">
            <a:avLst/>
          </a:prstGeom>
        </p:spPr>
      </p:pic>
      <p:pic>
        <p:nvPicPr>
          <p:cNvPr id="7" name="Picture 6"/>
          <p:cNvPicPr>
            <a:picLocks noChangeAspect="1"/>
          </p:cNvPicPr>
          <p:nvPr/>
        </p:nvPicPr>
        <p:blipFill>
          <a:blip r:embed="rId2"/>
          <a:stretch>
            <a:fillRect/>
          </a:stretch>
        </p:blipFill>
        <p:spPr>
          <a:xfrm>
            <a:off x="6182505" y="3169011"/>
            <a:ext cx="5828261" cy="2331304"/>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Content Placeholder 4"/>
          <p:cNvPicPr>
            <a:picLocks noGrp="1" noChangeAspect="1"/>
          </p:cNvPicPr>
          <p:nvPr>
            <p:ph idx="1"/>
          </p:nvPr>
        </p:nvPicPr>
        <p:blipFill>
          <a:blip r:embed="rId1"/>
          <a:stretch>
            <a:fillRect/>
          </a:stretch>
        </p:blipFill>
        <p:spPr>
          <a:xfrm>
            <a:off x="643467" y="920834"/>
            <a:ext cx="10905066" cy="5016331"/>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IN" dirty="0"/>
              <a:t>Thank You</a:t>
            </a:r>
            <a:endParaRPr lang="en-IN"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9928</Words>
  <Application>WPS Presentation</Application>
  <PresentationFormat>Widescreen</PresentationFormat>
  <Paragraphs>161</Paragraphs>
  <Slides>20</Slides>
  <Notes>4</Notes>
  <HiddenSlides>0</HiddenSlides>
  <MMClips>0</MMClips>
  <ScaleCrop>false</ScaleCrop>
  <HeadingPairs>
    <vt:vector size="6" baseType="variant">
      <vt:variant>
        <vt:lpstr>已用的字体</vt:lpstr>
      </vt:variant>
      <vt:variant>
        <vt:i4>15</vt:i4>
      </vt:variant>
      <vt:variant>
        <vt:lpstr>主题</vt:lpstr>
      </vt:variant>
      <vt:variant>
        <vt:i4>1</vt:i4>
      </vt:variant>
      <vt:variant>
        <vt:lpstr>幻灯片标题</vt:lpstr>
      </vt:variant>
      <vt:variant>
        <vt:i4>20</vt:i4>
      </vt:variant>
    </vt:vector>
  </HeadingPairs>
  <TitlesOfParts>
    <vt:vector size="36" baseType="lpstr">
      <vt:lpstr>Arial</vt:lpstr>
      <vt:lpstr>SimSun</vt:lpstr>
      <vt:lpstr>Wingdings</vt:lpstr>
      <vt:lpstr>Times New Roman</vt:lpstr>
      <vt:lpstr>Arial Rounded</vt:lpstr>
      <vt:lpstr>Arial</vt:lpstr>
      <vt:lpstr>Times New Roman</vt:lpstr>
      <vt:lpstr>Microsoft YaHei</vt:lpstr>
      <vt:lpstr>Arial Unicode MS</vt:lpstr>
      <vt:lpstr>Aptos Display</vt:lpstr>
      <vt:lpstr>Segoe UI Variable Display</vt:lpstr>
      <vt:lpstr>Aptos</vt:lpstr>
      <vt:lpstr>Segoe UI</vt:lpstr>
      <vt:lpstr>Georgia</vt:lpstr>
      <vt:lpstr>Tahoma</vt:lpstr>
      <vt:lpstr>Office Theme</vt:lpstr>
      <vt:lpstr>PowerPoint 演示文稿</vt:lpstr>
      <vt:lpstr>PowerPoint 演示文稿</vt:lpstr>
      <vt:lpstr>ABSTRACT :</vt:lpstr>
      <vt:lpstr>Introduction: </vt:lpstr>
      <vt:lpstr>PowerPoint 演示文稿</vt:lpstr>
      <vt:lpstr> OBJECTIVE :</vt:lpstr>
      <vt:lpstr> Existing System:</vt:lpstr>
      <vt:lpstr>PowerPoint 演示文稿</vt:lpstr>
      <vt:lpstr>Limitations of Existing System: </vt:lpstr>
      <vt:lpstr>Proposed System: </vt:lpstr>
      <vt:lpstr>Methodology: </vt:lpstr>
      <vt:lpstr>PowerPoint 演示文稿</vt:lpstr>
      <vt:lpstr>PowerPoint 演示文稿</vt:lpstr>
      <vt:lpstr>Implementation:</vt:lpstr>
      <vt:lpstr>Implementation (Working):</vt:lpstr>
      <vt:lpstr>RESULTS:</vt:lpstr>
      <vt:lpstr>PowerPoint 演示文稿</vt:lpstr>
      <vt:lpstr>PowerPoint 演示文稿</vt:lpstr>
      <vt:lpstr>PowerPoint 演示文稿</vt:lpstr>
      <vt:lpstr>Thank You</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Manoj Kumar</dc:creator>
  <cp:lastModifiedBy>Nikhita Vankayalapati</cp:lastModifiedBy>
  <cp:revision>16</cp:revision>
  <dcterms:created xsi:type="dcterms:W3CDTF">2025-09-24T10:05:00Z</dcterms:created>
  <dcterms:modified xsi:type="dcterms:W3CDTF">2026-04-23T16:04:02Z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9FCAE0E00CBA47BB85F17D1CF055405A_13</vt:lpwstr>
  </property>
  <property fmtid="{D5CDD505-2E9C-101B-9397-08002B2CF9AE}" pid="3" name="KSOProductBuildVer">
    <vt:lpwstr>2057-12.2.0.23201</vt:lpwstr>
  </property>
</Properties>
</file>